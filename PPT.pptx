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11" r:id="rId2"/>
    <p:sldId id="285" r:id="rId3"/>
    <p:sldId id="286" r:id="rId4"/>
    <p:sldId id="289" r:id="rId5"/>
    <p:sldId id="288" r:id="rId6"/>
    <p:sldId id="290" r:id="rId7"/>
    <p:sldId id="291" r:id="rId8"/>
    <p:sldId id="293" r:id="rId9"/>
    <p:sldId id="294" r:id="rId10"/>
    <p:sldId id="295" r:id="rId11"/>
    <p:sldId id="296" r:id="rId12"/>
    <p:sldId id="297" r:id="rId13"/>
    <p:sldId id="312" r:id="rId14"/>
    <p:sldId id="299" r:id="rId15"/>
    <p:sldId id="275" r:id="rId16"/>
    <p:sldId id="276" r:id="rId17"/>
    <p:sldId id="300" r:id="rId18"/>
    <p:sldId id="301" r:id="rId19"/>
    <p:sldId id="302" r:id="rId20"/>
    <p:sldId id="303" r:id="rId21"/>
    <p:sldId id="281" r:id="rId22"/>
    <p:sldId id="304" r:id="rId23"/>
    <p:sldId id="305" r:id="rId24"/>
    <p:sldId id="306" r:id="rId2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A477-D86F-1EA4-782B-B73381EC1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DF3DC-463D-B17E-8F34-1A6AFE248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3517-9CA1-F826-8D8C-03F7E3F9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B79AA-16F1-5F3E-3F4E-722BB92A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A6B93-3FD5-2207-C59F-ED19377D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0787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CE30-97AB-01A3-36DE-5AB21D98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BDA29-250A-E036-0E24-8DB09B32A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E9513-0C94-6672-5719-317200F9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CC94-2E34-53ED-C318-C32E5B6A6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AC287-86AF-2AC6-7366-3AD943AF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401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6FAC2-338C-6B39-1643-3395E2DC3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6E00C-624E-896E-5A8E-5B9F07229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B30FC-46BC-2B27-A834-3BFD985B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1712-6FB9-0609-C19B-3E6C4EE5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8A69-6535-4E34-F7EE-8178A7E1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983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BBD8-ED01-B6EA-39C3-B5449F9C9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DD1BD-B2CB-0094-C93C-B75FA834F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D73DF-1D77-30BE-DC66-F05EEF4A8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3EEBF-0820-74C5-33C2-ABD63A50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7D595-0F1C-3518-6BFC-1BC42BCC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E7D44-A377-4EE5-1E1D-74690454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28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00E5-7AF1-FEA8-F353-3B07C00A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FF05E-58C9-0857-ED17-66833EBD0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C9A7D-6A12-7B0E-0C9E-1EDD0755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11BC4-067C-F0C1-FB4E-AD956A5C5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62A1C-F0BB-68FA-D735-78D323243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DA7D7-71FF-C4AE-675E-5B4B7450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C1EBA-B4F5-5E98-1554-86E68914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7EFDD-2FBF-9F84-D08B-EA69398F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922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2FB6-8FFA-3C2A-A075-9A81317E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F3D14-4714-893F-5286-07CF89F0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02FCA-60FE-4501-0C9C-6DB2A845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68545-605C-AEE1-68C7-CC9E33C6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0888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4BD109-5B18-0B16-95CE-8EA574313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A95491-4542-CF48-AA1F-8583C3E2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ACBE6-E5B3-A390-9BC2-5F1BA534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2424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7B08-8724-331D-0477-79F05AFD6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0A827-39F2-3418-1B78-6A3A08109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CAC42-614C-3AEE-5E85-D6D0AED75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BE5DD-97A7-35C2-F666-E4FBA031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9F39B-41F4-55F2-8798-9101576A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190AE-1907-BA47-6FA2-B8F26BB0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5942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7668-D5DA-5866-8C0E-DF9FA14F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4B2381-F72B-92BB-42A6-927C3F9BE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2A4E9-AED5-D10C-40B8-C5A9C7059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C82B7-F17F-9C43-3FC7-915C4E866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FF9A0-2948-558E-F3D4-5CE2BF30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6B7B3-A165-EF34-9A20-8F732B02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237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D49A-5F89-DF68-D61F-A22653EF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C0E2E-D486-6A1E-EB70-AB83BD1CB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E89DC-01FA-D50D-D0C0-020A0C3C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6F9AE-0047-0BBD-4242-FF29C6F2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AF602-45E2-81FF-E88D-875BC799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056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599D3-0179-5BBE-07B4-D402EBC47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15CE0-AA80-770F-9D18-0A7956BA3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08456-5F77-D6B4-266A-543E5993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F8948-1EBE-F354-6B0E-B1446589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426E4-6EEE-4A0C-57E6-A7918500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804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61" name="CornerWash"/>
            <p:cNvSpPr/>
            <p:nvPr/>
          </p:nvSpPr>
          <p:spPr>
            <a:xfrm>
              <a:off x="11020000" y="260000"/>
              <a:ext cx="800000" cy="800000"/>
            </a:xfrm>
            <a:prstGeom prst="ellipse">
              <a:avLst/>
            </a:prstGeom>
            <a:solidFill>
              <a:srgbClr val="DCE7F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2" name="AccentBar"/>
            <p:cNvSpPr/>
            <p:nvPr/>
          </p:nvSpPr>
          <p:spPr>
            <a:xfrm>
              <a:off x="0" y="6743700"/>
              <a:ext cx="12192000" cy="1143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3" name="AccentBar2"/>
            <p:cNvSpPr/>
            <p:nvPr/>
          </p:nvSpPr>
          <p:spPr>
            <a:xfrm>
              <a:off x="0" y="6743700"/>
              <a:ext cx="2200000" cy="1143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0C22B-0D23-1A09-CB72-D34DBA22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21D97-634A-AD16-2E20-ACAD3124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53890-D560-91F8-810F-706C25D95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72C5E-9A23-46ED-B143-596F9B414644}" type="datetimeFigureOut">
              <a:rPr lang="id-ID" smtClean="0"/>
              <a:t>08/08/2026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CB35C-1CBD-233D-7605-96FD67A17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83B8-B016-BB76-20C2-CCF2F809E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C4375-1C93-4532-BD3A-3F5C326B6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567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223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E466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adrosyadi/trialclass_io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2ACE-3A09-C6B5-2A02-146864694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00" y="1981200"/>
            <a:ext cx="6604000" cy="2159000"/>
          </a:xfrm>
        </p:spPr>
        <p:txBody>
          <a:bodyPr/>
          <a:lstStyle/>
          <a:p>
            <a:pPr algn="l">
              <a:buNone/>
            </a:pPr>
            <a:r>
              <a:rPr lang="id-ID" sz="4400" b="1" dirty="0">
                <a:solidFill>
                  <a:srgbClr val="152238"/>
                </a:solidFill>
              </a:rPr>
              <a:t>Membangun Sistem IoT dengan </a:t>
            </a:r>
            <a:r>
              <a:rPr lang="id-ID" sz="4400" b="1" dirty="0">
                <a:solidFill>
                  <a:srgbClr val="1D4ED8"/>
                </a:solidFill>
              </a:rPr>
              <a:t>Laravel</a:t>
            </a:r>
            <a:r>
              <a:rPr lang="id-ID" sz="4400" b="1" dirty="0">
                <a:solidFill>
                  <a:srgbClr val="152238"/>
                </a:solidFill>
              </a:rPr>
              <a:t> &amp; </a:t>
            </a:r>
            <a:r>
              <a:rPr lang="id-ID" sz="4400" b="1" dirty="0">
                <a:solidFill>
                  <a:srgbClr val="F97316"/>
                </a:solidFill>
              </a:rPr>
              <a:t>ESP8266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18C08-7D97-D539-F323-62B65DE18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000" y="4572000"/>
            <a:ext cx="6604000" cy="762000"/>
          </a:xfrm>
        </p:spPr>
        <p:txBody>
          <a:bodyPr/>
          <a:lstStyle/>
          <a:p>
            <a:pPr algn="l">
              <a:buNone/>
            </a:pPr>
            <a:r>
              <a:rPr lang="id-ID" sz="2000" dirty="0">
                <a:solidFill>
                  <a:srgbClr val="2E4667"/>
                </a:solidFill>
              </a:rPr>
              <a:t>Modul praktikum 8 sesi: dari instalasi sampai dashboard IoT real-time</a:t>
            </a:r>
          </a:p>
        </p:txBody>
      </p:sp>
      <p:sp>
        <p:nvSpPr>
          <p:cNvPr id="20" name="Badge"/>
          <p:cNvSpPr/>
          <p:nvPr/>
        </p:nvSpPr>
        <p:spPr>
          <a:xfrm>
            <a:off x="1270000" y="1320800"/>
            <a:ext cx="22860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lIns="137160" tIns="45720" rIns="137160" bIns="45720" anchor="ctr">
            <a:normAutofit/>
          </a:bodyPr>
          <a:lstStyle/>
          <a:p>
            <a:pPr algn="ctr">
              <a:buNone/>
            </a:pPr>
            <a:r>
              <a:rPr lang="id-ID" sz="1400" b="1" dirty="0">
                <a:solidFill>
                  <a:srgbClr val="FFFFFF"/>
                </a:solidFill>
              </a:rPr>
              <a:t>TRIAL CLASS</a:t>
            </a:r>
          </a:p>
        </p:txBody>
      </p:sp>
      <p:sp>
        <p:nvSpPr>
          <p:cNvPr id="21" name="Divider"/>
          <p:cNvSpPr/>
          <p:nvPr/>
        </p:nvSpPr>
        <p:spPr>
          <a:xfrm>
            <a:off x="1270000" y="4318000"/>
            <a:ext cx="114300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lIns="137160" tIns="45720" rIns="137160" bIns="45720" anchor="ctr">
            <a:normAutofit fontScale="25000" lnSpcReduction="20000"/>
          </a:bodyPr>
          <a:lstStyle/>
          <a:p>
            <a:endParaRPr lang="id-ID"/>
          </a:p>
        </p:txBody>
      </p:sp>
      <p:sp>
        <p:nvSpPr>
          <p:cNvPr id="22" name="Footer"/>
          <p:cNvSpPr/>
          <p:nvPr/>
        </p:nvSpPr>
        <p:spPr>
          <a:xfrm>
            <a:off x="1270000" y="55626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lIns="137160" tIns="45720" rIns="137160" bIns="45720" anchor="ctr">
            <a:normAutofit/>
          </a:bodyPr>
          <a:lstStyle/>
          <a:p>
            <a:pPr algn="l">
              <a:buNone/>
            </a:pPr>
            <a:r>
              <a:rPr lang="id-ID" sz="1600" dirty="0">
                <a:solidFill>
                  <a:srgbClr val="2E4667"/>
                </a:solidFill>
              </a:rPr>
              <a:t>Proyek: laravel-iot (Laravel 12)  ·  iot_arduino (firmware ESP8266)</a:t>
            </a:r>
          </a:p>
        </p:txBody>
      </p:sp>
      <p:sp>
        <p:nvSpPr>
          <p:cNvPr id="30" name="Chip0"/>
          <p:cNvSpPr/>
          <p:nvPr/>
        </p:nvSpPr>
        <p:spPr>
          <a:xfrm>
            <a:off x="8382000" y="2133600"/>
            <a:ext cx="2794000" cy="81280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txBody>
          <a:bodyPr lIns="137160" tIns="45720" rIns="137160" bIns="45720" anchor="ctr">
            <a:normAutofit/>
          </a:bodyPr>
          <a:lstStyle/>
          <a:p>
            <a:pPr algn="ctr">
              <a:buNone/>
            </a:pPr>
            <a:r>
              <a:rPr lang="id-ID" sz="1600" b="1" dirty="0">
                <a:solidFill>
                  <a:srgbClr val="0369A1"/>
                </a:solidFill>
              </a:rPr>
              <a:t>NodeMCU ESP8266</a:t>
            </a:r>
          </a:p>
        </p:txBody>
      </p:sp>
      <p:sp>
        <p:nvSpPr>
          <p:cNvPr id="31" name="Chip1"/>
          <p:cNvSpPr/>
          <p:nvPr/>
        </p:nvSpPr>
        <p:spPr>
          <a:xfrm>
            <a:off x="8382000" y="3251200"/>
            <a:ext cx="2794000" cy="81280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txBody>
          <a:bodyPr lIns="137160" tIns="45720" rIns="137160" bIns="45720" anchor="ctr">
            <a:normAutofit/>
          </a:bodyPr>
          <a:lstStyle/>
          <a:p>
            <a:pPr algn="ctr">
              <a:buNone/>
            </a:pPr>
            <a:r>
              <a:rPr lang="id-ID" sz="1600" b="1" dirty="0">
                <a:solidFill>
                  <a:srgbClr val="1D4ED8"/>
                </a:solidFill>
              </a:rPr>
              <a:t>Laravel 12 REST API</a:t>
            </a:r>
          </a:p>
        </p:txBody>
      </p:sp>
      <p:sp>
        <p:nvSpPr>
          <p:cNvPr id="32" name="Chip2"/>
          <p:cNvSpPr/>
          <p:nvPr/>
        </p:nvSpPr>
        <p:spPr>
          <a:xfrm>
            <a:off x="8382000" y="4368800"/>
            <a:ext cx="2794000" cy="81280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txBody>
          <a:bodyPr lIns="137160" tIns="45720" rIns="137160" bIns="45720" anchor="ctr">
            <a:normAutofit/>
          </a:bodyPr>
          <a:lstStyle/>
          <a:p>
            <a:pPr algn="ctr">
              <a:buNone/>
            </a:pPr>
            <a:r>
              <a:rPr lang="id-ID" sz="1600" b="1" dirty="0">
                <a:solidFill>
                  <a:srgbClr val="9A4308"/>
                </a:solidFill>
              </a:rPr>
              <a:t>MySQL + Dashboard</a:t>
            </a:r>
          </a:p>
        </p:txBody>
      </p:sp>
    </p:spTree>
    <p:extLst>
      <p:ext uri="{BB962C8B-B14F-4D97-AF65-F5344CB8AC3E}">
        <p14:creationId xmlns:p14="http://schemas.microsoft.com/office/powerpoint/2010/main" val="107836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1B83-2E0B-35AD-5C29-4008950D4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Arsitektur Sistem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954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Bagaimana data bergerak dari sensor fisik ke dashboard web</a:t>
            </a:r>
          </a:p>
        </p:txBody>
      </p:sp>
      <p:sp>
        <p:nvSpPr>
          <p:cNvPr id="60" name="Box0"/>
          <p:cNvSpPr/>
          <p:nvPr/>
        </p:nvSpPr>
        <p:spPr>
          <a:xfrm>
            <a:off x="711200" y="1930400"/>
            <a:ext cx="2413000" cy="1778000"/>
          </a:xfrm>
          <a:prstGeom prst="roundRect">
            <a:avLst/>
          </a:prstGeom>
          <a:solidFill>
            <a:srgbClr val="E8F6FE"/>
          </a:solidFill>
          <a:ln w="12700">
            <a:solidFill>
              <a:srgbClr val="0EA5E9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0EA5E9"/>
                </a:solidFill>
              </a:rPr>
              <a:t>1   Sensor &amp; Aktuator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DHT22 (suhu, kelembapan) · Potensiometer · LED</a:t>
            </a:r>
          </a:p>
        </p:txBody>
      </p:sp>
      <p:sp>
        <p:nvSpPr>
          <p:cNvPr id="70" name="Arrow0"/>
          <p:cNvSpPr/>
          <p:nvPr/>
        </p:nvSpPr>
        <p:spPr>
          <a:xfrm>
            <a:off x="3200400" y="2641600"/>
            <a:ext cx="330200" cy="355600"/>
          </a:xfrm>
          <a:prstGeom prst="rightArrow">
            <a:avLst/>
          </a:prstGeom>
          <a:solidFill>
            <a:srgbClr val="9AAEC9"/>
          </a:solidFill>
          <a:ln>
            <a:noFill/>
          </a:ln>
        </p:spPr>
        <p:txBody>
          <a:bodyPr wrap="square" lIns="114300" tIns="91440" rIns="114300" bIns="91440" anchor="t">
            <a:normAutofit fontScale="25000" lnSpcReduction="20000"/>
          </a:bodyPr>
          <a:lstStyle/>
          <a:p>
            <a:endParaRPr lang="id-ID"/>
          </a:p>
        </p:txBody>
      </p:sp>
      <p:sp>
        <p:nvSpPr>
          <p:cNvPr id="61" name="Box1"/>
          <p:cNvSpPr/>
          <p:nvPr/>
        </p:nvSpPr>
        <p:spPr>
          <a:xfrm>
            <a:off x="3556000" y="1930400"/>
            <a:ext cx="2413000" cy="177800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F97316"/>
                </a:solidFill>
              </a:rPr>
              <a:t>2   ESP8266 (NodeMCU)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Baca sensor tiap ±2 detik, kirim via HTTP</a:t>
            </a:r>
          </a:p>
        </p:txBody>
      </p:sp>
      <p:sp>
        <p:nvSpPr>
          <p:cNvPr id="71" name="Arrow1"/>
          <p:cNvSpPr/>
          <p:nvPr/>
        </p:nvSpPr>
        <p:spPr>
          <a:xfrm>
            <a:off x="6045200" y="2641600"/>
            <a:ext cx="330200" cy="355600"/>
          </a:xfrm>
          <a:prstGeom prst="rightArrow">
            <a:avLst/>
          </a:prstGeom>
          <a:solidFill>
            <a:srgbClr val="9AAEC9"/>
          </a:solidFill>
          <a:ln>
            <a:noFill/>
          </a:ln>
        </p:spPr>
        <p:txBody>
          <a:bodyPr wrap="square" lIns="114300" tIns="91440" rIns="114300" bIns="91440" anchor="t">
            <a:normAutofit fontScale="25000" lnSpcReduction="20000"/>
          </a:bodyPr>
          <a:lstStyle/>
          <a:p>
            <a:endParaRPr lang="id-ID"/>
          </a:p>
        </p:txBody>
      </p:sp>
      <p:sp>
        <p:nvSpPr>
          <p:cNvPr id="62" name="Box2"/>
          <p:cNvSpPr/>
          <p:nvPr/>
        </p:nvSpPr>
        <p:spPr>
          <a:xfrm>
            <a:off x="6400800" y="1930400"/>
            <a:ext cx="2413000" cy="17780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1D4ED8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1D4ED8"/>
                </a:solidFill>
              </a:rPr>
              <a:t>3   Laravel 12 REST API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Validasi input, simpan data, sajikan JSON</a:t>
            </a:r>
          </a:p>
        </p:txBody>
      </p:sp>
      <p:sp>
        <p:nvSpPr>
          <p:cNvPr id="72" name="Arrow2"/>
          <p:cNvSpPr/>
          <p:nvPr/>
        </p:nvSpPr>
        <p:spPr>
          <a:xfrm>
            <a:off x="8890000" y="2641600"/>
            <a:ext cx="330200" cy="355600"/>
          </a:xfrm>
          <a:prstGeom prst="rightArrow">
            <a:avLst/>
          </a:prstGeom>
          <a:solidFill>
            <a:srgbClr val="9AAEC9"/>
          </a:solidFill>
          <a:ln>
            <a:noFill/>
          </a:ln>
        </p:spPr>
        <p:txBody>
          <a:bodyPr wrap="square" lIns="114300" tIns="91440" rIns="114300" bIns="91440" anchor="t">
            <a:normAutofit fontScale="25000" lnSpcReduction="20000"/>
          </a:bodyPr>
          <a:lstStyle/>
          <a:p>
            <a:endParaRPr lang="id-ID"/>
          </a:p>
        </p:txBody>
      </p:sp>
      <p:sp>
        <p:nvSpPr>
          <p:cNvPr id="63" name="Box3"/>
          <p:cNvSpPr/>
          <p:nvPr/>
        </p:nvSpPr>
        <p:spPr>
          <a:xfrm>
            <a:off x="9245600" y="1930400"/>
            <a:ext cx="2413000" cy="1778000"/>
          </a:xfrm>
          <a:prstGeom prst="roundRect">
            <a:avLst/>
          </a:prstGeom>
          <a:solidFill>
            <a:srgbClr val="F2EBFE"/>
          </a:solidFill>
          <a:ln w="12700">
            <a:solidFill>
              <a:srgbClr val="7C3AED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7C3AED"/>
                </a:solidFill>
              </a:rPr>
              <a:t>4   MySQL + Dashboard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Tabel sensor &amp; kontrol, gauge refresh 5 detik</a:t>
            </a:r>
          </a:p>
        </p:txBody>
      </p:sp>
      <p:sp>
        <p:nvSpPr>
          <p:cNvPr id="80" name="FlowUp"/>
          <p:cNvSpPr/>
          <p:nvPr/>
        </p:nvSpPr>
        <p:spPr>
          <a:xfrm>
            <a:off x="711200" y="3987800"/>
            <a:ext cx="52578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14300" tIns="91440" rIns="114300" bIns="9144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1D4ED8"/>
                </a:solidFill>
              </a:rPr>
              <a:t>↑  POST /api/sensor-readings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Arduino mengirim data sensor ke server</a:t>
            </a:r>
          </a:p>
        </p:txBody>
      </p:sp>
      <p:sp>
        <p:nvSpPr>
          <p:cNvPr id="81" name="FlowDown"/>
          <p:cNvSpPr/>
          <p:nvPr/>
        </p:nvSpPr>
        <p:spPr>
          <a:xfrm>
            <a:off x="6223000" y="3987800"/>
            <a:ext cx="52578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14300" tIns="91440" rIns="114300" bIns="9144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F97316"/>
                </a:solidFill>
              </a:rPr>
              <a:t>↓  GET /api/led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Arduino membaca perintah LED dari dashboard</a:t>
            </a:r>
          </a:p>
        </p:txBody>
      </p:sp>
      <p:sp>
        <p:nvSpPr>
          <p:cNvPr id="90" name="Note"/>
          <p:cNvSpPr/>
          <p:nvPr/>
        </p:nvSpPr>
        <p:spPr>
          <a:xfrm>
            <a:off x="711200" y="5029200"/>
            <a:ext cx="10769600" cy="1066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FFFFFF"/>
                </a:solidFill>
              </a:rPr>
              <a:t>Kunci sistem: komunikasi dua arah lewat REST API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C9D6EC"/>
                </a:solidFill>
              </a:rPr>
              <a:t>Sensor naik ke server, perintah kontrol turun ke board — keduanya melalui satu backend Laravel.</a:t>
            </a:r>
          </a:p>
        </p:txBody>
      </p:sp>
    </p:spTree>
    <p:extLst>
      <p:ext uri="{BB962C8B-B14F-4D97-AF65-F5344CB8AC3E}">
        <p14:creationId xmlns:p14="http://schemas.microsoft.com/office/powerpoint/2010/main" val="308474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F9BDA-4D93-3841-DE84-DD37FCBE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Peta Perjalanan: 8 Modul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70000"/>
            <a:ext cx="965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Empat modul backend Laravel, empat modul hardware Arduino</a:t>
            </a:r>
          </a:p>
        </p:txBody>
      </p:sp>
      <p:sp>
        <p:nvSpPr>
          <p:cNvPr id="60" name="Mod0"/>
          <p:cNvSpPr/>
          <p:nvPr/>
        </p:nvSpPr>
        <p:spPr>
          <a:xfrm>
            <a:off x="711200" y="1803400"/>
            <a:ext cx="2540000" cy="20066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1D4ED8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1D4ED8"/>
                </a:solidFill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Instalasi &amp; Setup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XAMPP, Composer, proyek laravel-iot, konfigurasi .env</a:t>
            </a:r>
          </a:p>
        </p:txBody>
      </p:sp>
      <p:sp>
        <p:nvSpPr>
          <p:cNvPr id="61" name="Mod1"/>
          <p:cNvSpPr/>
          <p:nvPr/>
        </p:nvSpPr>
        <p:spPr>
          <a:xfrm>
            <a:off x="3454400" y="1803400"/>
            <a:ext cx="2540000" cy="20066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1D4ED8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1D4ED8"/>
                </a:solidFill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Model &amp; Migration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Tabel sensor &amp; kontrol lewat Eloquent + artisan</a:t>
            </a:r>
          </a:p>
        </p:txBody>
      </p:sp>
      <p:sp>
        <p:nvSpPr>
          <p:cNvPr id="62" name="Mod2"/>
          <p:cNvSpPr/>
          <p:nvPr/>
        </p:nvSpPr>
        <p:spPr>
          <a:xfrm>
            <a:off x="6197600" y="1803400"/>
            <a:ext cx="2540000" cy="20066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1D4ED8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1D4ED8"/>
                </a:solidFill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Request &amp; Resource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Validasi input dan format response JSON</a:t>
            </a:r>
          </a:p>
        </p:txBody>
      </p:sp>
      <p:sp>
        <p:nvSpPr>
          <p:cNvPr id="63" name="Mod3"/>
          <p:cNvSpPr/>
          <p:nvPr/>
        </p:nvSpPr>
        <p:spPr>
          <a:xfrm>
            <a:off x="8940800" y="1803400"/>
            <a:ext cx="2540000" cy="20066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1D4ED8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1D4ED8"/>
                </a:solidFill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Controller &amp; Dashboard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Controller API, routing, dashboard Blade</a:t>
            </a:r>
          </a:p>
        </p:txBody>
      </p:sp>
      <p:sp>
        <p:nvSpPr>
          <p:cNvPr id="64" name="Mod4"/>
          <p:cNvSpPr/>
          <p:nvPr/>
        </p:nvSpPr>
        <p:spPr>
          <a:xfrm>
            <a:off x="711200" y="3987800"/>
            <a:ext cx="2540000" cy="200660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F97316"/>
                </a:solidFill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Arduino IDE &amp; Library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Board Manager ESP8266, DHT, WiFiManager, ArduinoJson</a:t>
            </a:r>
          </a:p>
        </p:txBody>
      </p:sp>
      <p:sp>
        <p:nvSpPr>
          <p:cNvPr id="65" name="Mod5"/>
          <p:cNvSpPr/>
          <p:nvPr/>
        </p:nvSpPr>
        <p:spPr>
          <a:xfrm>
            <a:off x="3454400" y="3987800"/>
            <a:ext cx="2540000" cy="200660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F97316"/>
                </a:solidFill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Wiring Hardware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Merangkai DHT22, potensiometer, dan LED ke NodeMCU</a:t>
            </a:r>
          </a:p>
        </p:txBody>
      </p:sp>
      <p:sp>
        <p:nvSpPr>
          <p:cNvPr id="66" name="Mod6"/>
          <p:cNvSpPr/>
          <p:nvPr/>
        </p:nvSpPr>
        <p:spPr>
          <a:xfrm>
            <a:off x="6197600" y="3987800"/>
            <a:ext cx="2540000" cy="200660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F97316"/>
                </a:solidFill>
              </a:rPr>
              <a:t>07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Program Arduino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setup(), loop(), fungsi kirim &amp; baca data via HTTP</a:t>
            </a:r>
          </a:p>
        </p:txBody>
      </p:sp>
      <p:sp>
        <p:nvSpPr>
          <p:cNvPr id="67" name="Mod7"/>
          <p:cNvSpPr/>
          <p:nvPr/>
        </p:nvSpPr>
        <p:spPr>
          <a:xfrm>
            <a:off x="8940800" y="3987800"/>
            <a:ext cx="2540000" cy="200660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200" b="1" dirty="0">
                <a:solidFill>
                  <a:srgbClr val="F97316"/>
                </a:solidFill>
              </a:rPr>
              <a:t>08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id-ID" sz="1500" b="1" dirty="0">
                <a:solidFill>
                  <a:srgbClr val="152238"/>
                </a:solidFill>
              </a:rPr>
              <a:t>Uji &amp; Troubleshooting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Checklist, uji end-to-end, solusi masalah umum</a:t>
            </a:r>
          </a:p>
        </p:txBody>
      </p:sp>
      <p:sp>
        <p:nvSpPr>
          <p:cNvPr id="90" name="Legend"/>
          <p:cNvSpPr/>
          <p:nvPr/>
        </p:nvSpPr>
        <p:spPr>
          <a:xfrm>
            <a:off x="711200" y="6197600"/>
            <a:ext cx="10769600" cy="12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91440" rIns="114300" bIns="91440" anchor="t">
            <a:normAutofit fontScale="25000" lnSpcReduction="20000"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8295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34E5F-9A7A-F34C-BECC-E6DD191C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Alat &amp; Bahan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70000"/>
            <a:ext cx="965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91440" rIns="16002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Siapkan semuanya sebelum sesi dimulai</a:t>
            </a:r>
          </a:p>
        </p:txBody>
      </p:sp>
      <p:sp>
        <p:nvSpPr>
          <p:cNvPr id="60" name="HeadSW"/>
          <p:cNvSpPr/>
          <p:nvPr/>
        </p:nvSpPr>
        <p:spPr>
          <a:xfrm>
            <a:off x="711200" y="1752600"/>
            <a:ext cx="5257800" cy="533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FFFFFF"/>
                </a:solidFill>
              </a:rPr>
              <a:t>PERANGKAT LUNAK</a:t>
            </a:r>
          </a:p>
        </p:txBody>
      </p:sp>
      <p:sp>
        <p:nvSpPr>
          <p:cNvPr id="61" name="HeadHW"/>
          <p:cNvSpPr/>
          <p:nvPr/>
        </p:nvSpPr>
        <p:spPr>
          <a:xfrm>
            <a:off x="6223000" y="1752600"/>
            <a:ext cx="5257800" cy="5334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FFFFFF"/>
                </a:solidFill>
              </a:rPr>
              <a:t>PERANGKAT KERAS</a:t>
            </a:r>
          </a:p>
        </p:txBody>
      </p:sp>
      <p:sp>
        <p:nvSpPr>
          <p:cNvPr id="62" name="ListSW"/>
          <p:cNvSpPr/>
          <p:nvPr/>
        </p:nvSpPr>
        <p:spPr>
          <a:xfrm>
            <a:off x="711200" y="2362200"/>
            <a:ext cx="5257800" cy="30480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05000"/>
              </a:lnSpc>
              <a:spcBef>
                <a:spcPts val="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XAMPP — paket Apache + MySQL + PHP</a:t>
            </a:r>
          </a:p>
          <a:p>
            <a:pPr marL="171450" indent="-17145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PHP 8.2 atau lebih tinggi</a:t>
            </a:r>
          </a:p>
          <a:p>
            <a:pPr marL="171450" indent="-17145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Composer — dependency manager PHP</a:t>
            </a:r>
          </a:p>
          <a:p>
            <a:pPr marL="171450" indent="-17145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Laravel 12 (proyek laravel-iot)</a:t>
            </a:r>
          </a:p>
          <a:p>
            <a:pPr marL="171450" indent="-17145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Visual Studio Code</a:t>
            </a:r>
          </a:p>
          <a:p>
            <a:pPr marL="171450" indent="-17145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Google Chrome / Mozilla Firefox</a:t>
            </a:r>
          </a:p>
        </p:txBody>
      </p:sp>
      <p:sp>
        <p:nvSpPr>
          <p:cNvPr id="63" name="ListHW"/>
          <p:cNvSpPr/>
          <p:nvPr/>
        </p:nvSpPr>
        <p:spPr>
          <a:xfrm>
            <a:off x="6223000" y="2362200"/>
            <a:ext cx="5257800" cy="3048000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6CBA6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05000"/>
              </a:lnSpc>
              <a:spcBef>
                <a:spcPts val="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Board ESP8266 NodeMCU — 1 buah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Sensor DHT22 (AM2302) — 1 buah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Potensiometer 10KΩ — 1 buah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LED + resistor 220Ω — 1 set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Resistor 10KΩ (opsional, pull-up)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Breadboard + kabel jumper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id-ID" sz="1500" b="0" dirty="0">
                <a:solidFill>
                  <a:srgbClr val="2E4667"/>
                </a:solidFill>
              </a:rPr>
              <a:t>Kabel USB micro</a:t>
            </a:r>
          </a:p>
        </p:txBody>
      </p:sp>
      <p:sp>
        <p:nvSpPr>
          <p:cNvPr id="70" name="Tip"/>
          <p:cNvSpPr/>
          <p:nvPr/>
        </p:nvSpPr>
        <p:spPr>
          <a:xfrm>
            <a:off x="711200" y="5613400"/>
            <a:ext cx="10769600" cy="685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FFFFFF"/>
                </a:solidFill>
              </a:rPr>
              <a:t>Catatan: ESP8266 hanya mendukung WiFi 2.4 GHz — pastikan jaringan yang dipakai bukan 5 GHz.</a:t>
            </a:r>
          </a:p>
        </p:txBody>
      </p:sp>
    </p:spTree>
    <p:extLst>
      <p:ext uri="{BB962C8B-B14F-4D97-AF65-F5344CB8AC3E}">
        <p14:creationId xmlns:p14="http://schemas.microsoft.com/office/powerpoint/2010/main" val="58923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9674-AE8F-DD5C-D62C-0F414923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Instalasi Laravel &amp; Setup Proyek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01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70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91440" rIns="16002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Menyiapkan server lokal, dependency, dan database proyek</a:t>
            </a:r>
          </a:p>
        </p:txBody>
      </p:sp>
      <p:sp>
        <p:nvSpPr>
          <p:cNvPr id="60" name="TujHead"/>
          <p:cNvSpPr/>
          <p:nvPr/>
        </p:nvSpPr>
        <p:spPr>
          <a:xfrm>
            <a:off x="711200" y="1752600"/>
            <a:ext cx="3810000" cy="5080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FFFFFF"/>
                </a:solidFill>
              </a:rPr>
              <a:t>TUJUAN MODUL</a:t>
            </a:r>
          </a:p>
        </p:txBody>
      </p:sp>
      <p:sp>
        <p:nvSpPr>
          <p:cNvPr id="61" name="Tuj"/>
          <p:cNvSpPr/>
          <p:nvPr/>
        </p:nvSpPr>
        <p:spPr>
          <a:xfrm>
            <a:off x="711200" y="2336800"/>
            <a:ext cx="3810000" cy="24130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AFC4F2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500" b="0" dirty="0">
                <a:solidFill>
                  <a:srgbClr val="1E3A6E"/>
                </a:solidFill>
              </a:rPr>
              <a:t>Menginstal XAMPP (Apache &amp; MySQL) dan Composer</a:t>
            </a:r>
          </a:p>
          <a:p>
            <a:pPr marL="171450" indent="-171450" algn="l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id-ID" sz="1500" b="0" dirty="0">
                <a:solidFill>
                  <a:srgbClr val="1E3A6E"/>
                </a:solidFill>
              </a:rPr>
              <a:t>Membuat database IoT melalui phpMyAdmin</a:t>
            </a:r>
          </a:p>
          <a:p>
            <a:pPr marL="171450" indent="-171450" algn="l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id-ID" sz="1500" b="0" dirty="0">
                <a:solidFill>
                  <a:srgbClr val="1E3A6E"/>
                </a:solidFill>
              </a:rPr>
              <a:t>Menjalankan proyek laravel-iot untuk pertama kali</a:t>
            </a:r>
          </a:p>
        </p:txBody>
      </p:sp>
      <p:sp>
        <p:nvSpPr>
          <p:cNvPr id="70" name="LangHead"/>
          <p:cNvSpPr/>
          <p:nvPr/>
        </p:nvSpPr>
        <p:spPr>
          <a:xfrm>
            <a:off x="4724400" y="1752600"/>
            <a:ext cx="6756400" cy="5080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FFFFFF"/>
                </a:solidFill>
              </a:rPr>
              <a:t>LANGKAH PRAKTIKUM</a:t>
            </a:r>
          </a:p>
        </p:txBody>
      </p:sp>
      <p:sp>
        <p:nvSpPr>
          <p:cNvPr id="71" name="Lang"/>
          <p:cNvSpPr/>
          <p:nvPr/>
        </p:nvSpPr>
        <p:spPr>
          <a:xfrm>
            <a:off x="4724400" y="2336800"/>
            <a:ext cx="6756400" cy="3530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1.  Instal XAMPP — centang Apache, MySQL, PHP, phpMyAdmin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2.  Instal Composer — centang "Add PHP to PATH"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3.  Start Apache &amp; MySQL hingga berstatus hijau Running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4.  Buat database laravel_iot di phpMyAdmin (menu New)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5.  Jalankan composer install di folder laravel-iot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6.  Salin .env.example menjadi .env, sesuaikan koneksi DB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7.  Jalankan php artisan key:generate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8.  Uji dengan php artisan serve → buka 127.0.0.1:8000</a:t>
            </a:r>
          </a:p>
        </p:txBody>
      </p:sp>
      <p:sp>
        <p:nvSpPr>
          <p:cNvPr id="80" name="Warn"/>
          <p:cNvSpPr/>
          <p:nvPr/>
        </p:nvSpPr>
        <p:spPr>
          <a:xfrm>
            <a:off x="711200" y="4927600"/>
            <a:ext cx="3810000" cy="93980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6CBA6"/>
            </a:solidFill>
          </a:ln>
        </p:spPr>
        <p:txBody>
          <a:bodyPr wrap="square" lIns="160020" tIns="91440" rIns="160020" bIns="91440" anchor="t"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B4520A"/>
                </a:solidFill>
              </a:rPr>
              <a:t>Gagal Start?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7A4517"/>
                </a:solidFill>
              </a:rPr>
              <a:t>Biasanya port 80/3306 bentrok. Ubah lewat tombol Config di XAMPP.</a:t>
            </a:r>
          </a:p>
        </p:txBody>
      </p:sp>
    </p:spTree>
    <p:extLst>
      <p:ext uri="{BB962C8B-B14F-4D97-AF65-F5344CB8AC3E}">
        <p14:creationId xmlns:p14="http://schemas.microsoft.com/office/powerpoint/2010/main" val="355038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C051-4078-DB4C-E887-C356086E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800" b="1" dirty="0">
                <a:solidFill>
                  <a:srgbClr val="152238"/>
                </a:solidFill>
              </a:rPr>
              <a:t>Konfigurasi Database &amp; Perintah Kunci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01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70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91440" rIns="16002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Sambungkan Laravel ke database laravel_iot</a:t>
            </a:r>
          </a:p>
        </p:txBody>
      </p:sp>
      <p:sp>
        <p:nvSpPr>
          <p:cNvPr id="60" name="CodeHead"/>
          <p:cNvSpPr/>
          <p:nvPr/>
        </p:nvSpPr>
        <p:spPr>
          <a:xfrm>
            <a:off x="711200" y="1752600"/>
            <a:ext cx="5461000" cy="4572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berkas  .env</a:t>
            </a:r>
          </a:p>
        </p:txBody>
      </p:sp>
      <p:sp>
        <p:nvSpPr>
          <p:cNvPr id="61" name="Code"/>
          <p:cNvSpPr/>
          <p:nvPr/>
        </p:nvSpPr>
        <p:spPr>
          <a:xfrm>
            <a:off x="711200" y="2209800"/>
            <a:ext cx="5461000" cy="2717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DB_CONNECTION=mysql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DB_HOST=127.0.0.1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DB_PORT=3306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DB_DATABASE=laravel_iot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DB_USERNAME=root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DB_PASSWORD=</a:t>
            </a:r>
          </a:p>
        </p:txBody>
      </p:sp>
      <p:sp>
        <p:nvSpPr>
          <p:cNvPr id="70" name="ExpHead"/>
          <p:cNvSpPr/>
          <p:nvPr/>
        </p:nvSpPr>
        <p:spPr>
          <a:xfrm>
            <a:off x="6426200" y="1752600"/>
            <a:ext cx="50546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PENJELASAN</a:t>
            </a:r>
          </a:p>
        </p:txBody>
      </p:sp>
      <p:sp>
        <p:nvSpPr>
          <p:cNvPr id="71" name="Exp"/>
          <p:cNvSpPr/>
          <p:nvPr/>
        </p:nvSpPr>
        <p:spPr>
          <a:xfrm>
            <a:off x="6426200" y="2209800"/>
            <a:ext cx="5054600" cy="2717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DB_CONNECTION → driver database yang dipakai, yaitu mysql</a:t>
            </a:r>
          </a:p>
          <a:p>
            <a:pPr marL="171450" indent="-1714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DB_DATABASE → nama database yang dibuat di phpMyAdmin</a:t>
            </a:r>
          </a:p>
          <a:p>
            <a:pPr marL="171450" indent="-1714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DB_USERNAME / DB_PASSWORD → default XAMPP: root tanpa password</a:t>
            </a:r>
          </a:p>
          <a:p>
            <a:pPr marL="171450" indent="-1714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APP_KEY diisi otomatis oleh perintah key:generate</a:t>
            </a:r>
          </a:p>
        </p:txBody>
      </p:sp>
      <p:sp>
        <p:nvSpPr>
          <p:cNvPr id="80" name="Cmd0"/>
          <p:cNvSpPr/>
          <p:nvPr/>
        </p:nvSpPr>
        <p:spPr>
          <a:xfrm>
            <a:off x="711200" y="5130800"/>
            <a:ext cx="34544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D4ED8"/>
                </a:solidFill>
                <a:latin typeface="Consolas"/>
              </a:rPr>
              <a:t>composer install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Unduh seluruh dependency Laravel</a:t>
            </a:r>
          </a:p>
        </p:txBody>
      </p:sp>
      <p:sp>
        <p:nvSpPr>
          <p:cNvPr id="81" name="Cmd1"/>
          <p:cNvSpPr/>
          <p:nvPr/>
        </p:nvSpPr>
        <p:spPr>
          <a:xfrm>
            <a:off x="4368800" y="5130800"/>
            <a:ext cx="34544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C3AED"/>
                </a:solidFill>
                <a:latin typeface="Consolas"/>
              </a:rPr>
              <a:t>php artisan key:generate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Buat APP_KEY untuk enkripsi session</a:t>
            </a:r>
          </a:p>
        </p:txBody>
      </p:sp>
      <p:sp>
        <p:nvSpPr>
          <p:cNvPr id="82" name="Cmd2"/>
          <p:cNvSpPr/>
          <p:nvPr/>
        </p:nvSpPr>
        <p:spPr>
          <a:xfrm>
            <a:off x="8026400" y="5130800"/>
            <a:ext cx="34544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520A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B4520A"/>
                </a:solidFill>
                <a:latin typeface="Consolas"/>
              </a:rPr>
              <a:t>php artisan serve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Jalankan server di 127.0.0.1:8000</a:t>
            </a:r>
          </a:p>
        </p:txBody>
      </p:sp>
    </p:spTree>
    <p:extLst>
      <p:ext uri="{BB962C8B-B14F-4D97-AF65-F5344CB8AC3E}">
        <p14:creationId xmlns:p14="http://schemas.microsoft.com/office/powerpoint/2010/main" val="127063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0237-6D18-C5B1-1ED6-32173052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Model &amp; Migration Database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02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70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91440" rIns="16002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Dua sisi Eloquent ORM: class PHP dan struktur tabel</a:t>
            </a:r>
          </a:p>
        </p:txBody>
      </p:sp>
      <p:sp>
        <p:nvSpPr>
          <p:cNvPr id="60" name="C1"/>
          <p:cNvSpPr/>
          <p:nvPr/>
        </p:nvSpPr>
        <p:spPr>
          <a:xfrm>
            <a:off x="711200" y="1752600"/>
            <a:ext cx="5257800" cy="19050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AFC4F2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D4ED8"/>
                </a:solidFill>
              </a:rPr>
              <a:t>MODEL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id-ID" sz="1400" b="0" dirty="0">
                <a:solidFill>
                  <a:srgbClr val="1E3A6E"/>
                </a:solidFill>
                <a:latin typeface="Consolas"/>
              </a:rPr>
              <a:t>app/Models/Sensor.php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Class PHP yang mewakili satu tabel. Dipakai untuk menyimpan dan membaca data lewat Eloquent tanpa menulis query SQL manual.</a:t>
            </a:r>
          </a:p>
        </p:txBody>
      </p:sp>
      <p:sp>
        <p:nvSpPr>
          <p:cNvPr id="61" name="C2"/>
          <p:cNvSpPr/>
          <p:nvPr/>
        </p:nvSpPr>
        <p:spPr>
          <a:xfrm>
            <a:off x="6223000" y="1752600"/>
            <a:ext cx="5257800" cy="1905000"/>
          </a:xfrm>
          <a:prstGeom prst="roundRect">
            <a:avLst/>
          </a:prstGeom>
          <a:solidFill>
            <a:srgbClr val="F2EBFE"/>
          </a:solidFill>
          <a:ln w="12700">
            <a:solidFill>
              <a:srgbClr val="C4A8F7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6B21D8"/>
                </a:solidFill>
              </a:rPr>
              <a:t>MIGRATION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id-ID" sz="1400" b="0" dirty="0">
                <a:solidFill>
                  <a:srgbClr val="4C1D95"/>
                </a:solidFill>
                <a:latin typeface="Consolas"/>
              </a:rPr>
              <a:t>database/migrations/…_create_sensor_table.php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Blueprint struktur tabel dalam bentuk kode — bisa dijalankan ulang di komputer mana pun agar database selalu seragam.</a:t>
            </a:r>
          </a:p>
        </p:txBody>
      </p:sp>
      <p:sp>
        <p:nvSpPr>
          <p:cNvPr id="70" name="CmdHead"/>
          <p:cNvSpPr/>
          <p:nvPr/>
        </p:nvSpPr>
        <p:spPr>
          <a:xfrm>
            <a:off x="711200" y="3860800"/>
            <a:ext cx="10769600" cy="4318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91440" rIns="160020" bIns="91440" anchor="ctr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</a:rPr>
              <a:t>PERINTAH ARTISAN</a:t>
            </a:r>
          </a:p>
        </p:txBody>
      </p:sp>
      <p:sp>
        <p:nvSpPr>
          <p:cNvPr id="71" name="Cmd"/>
          <p:cNvSpPr/>
          <p:nvPr/>
        </p:nvSpPr>
        <p:spPr>
          <a:xfrm>
            <a:off x="711200" y="4292600"/>
            <a:ext cx="10769600" cy="1219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php artisan make:model Sensor -m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D9E7FF"/>
                </a:solidFill>
                <a:latin typeface="Consolas"/>
              </a:rPr>
              <a:t>php artisan make:model Kontrol -m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id-ID" sz="1400" b="0" dirty="0">
                <a:solidFill>
                  <a:srgbClr val="9FB6D8"/>
                </a:solidFill>
              </a:rPr>
              <a:t>Flag -m membuat Model dan Migration sekaligus dalam satu perintah.</a:t>
            </a:r>
          </a:p>
        </p:txBody>
      </p:sp>
      <p:sp>
        <p:nvSpPr>
          <p:cNvPr id="80" name="Run"/>
          <p:cNvSpPr/>
          <p:nvPr/>
        </p:nvSpPr>
        <p:spPr>
          <a:xfrm>
            <a:off x="711200" y="5689600"/>
            <a:ext cx="5257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D4ED8"/>
                </a:solidFill>
                <a:latin typeface="Consolas"/>
              </a:rPr>
              <a:t>php artisan migrate  →  tabel terbentuk di MySQL</a:t>
            </a:r>
          </a:p>
        </p:txBody>
      </p:sp>
      <p:sp>
        <p:nvSpPr>
          <p:cNvPr id="81" name="Res"/>
          <p:cNvSpPr/>
          <p:nvPr/>
        </p:nvSpPr>
        <p:spPr>
          <a:xfrm>
            <a:off x="6223000" y="5689600"/>
            <a:ext cx="5257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60020" tIns="91440" rIns="160020" bIns="9144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07714F"/>
                </a:solidFill>
              </a:rPr>
              <a:t>Hasil: tabel sensor dan tabel kontrol siap dipakai</a:t>
            </a:r>
          </a:p>
        </p:txBody>
      </p:sp>
    </p:spTree>
    <p:extLst>
      <p:ext uri="{BB962C8B-B14F-4D97-AF65-F5344CB8AC3E}">
        <p14:creationId xmlns:p14="http://schemas.microsoft.com/office/powerpoint/2010/main" val="3242684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712F-1C3B-F22A-D752-20AADDA6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Skema Tabel: sensor &amp; kontrol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02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70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91440" rIns="16002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Isi method up() pada masing-masing file migration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7272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91440" rIns="160020" bIns="91440" anchor="ctr"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Schema::create('sensor', …)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159000"/>
            <a:ext cx="5257800" cy="18796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400" b="0" dirty="0">
                <a:solidFill>
                  <a:srgbClr val="D9E7FF"/>
                </a:solidFill>
                <a:latin typeface="Consolas"/>
              </a:rPr>
              <a:t>$table-&gt;id();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D9E7FF"/>
                </a:solidFill>
                <a:latin typeface="Consolas"/>
              </a:rPr>
              <a:t>$table-&gt;float('suhu')-&gt;nullable();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D9E7FF"/>
                </a:solidFill>
                <a:latin typeface="Consolas"/>
              </a:rPr>
              <a:t>$table-&gt;float('kelembapan')-&gt;nullable();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D9E7FF"/>
                </a:solidFill>
                <a:latin typeface="Consolas"/>
              </a:rPr>
              <a:t>$table-&gt;integer('potensio')-&gt;nullable();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D9E7FF"/>
                </a:solidFill>
                <a:latin typeface="Consolas"/>
              </a:rPr>
              <a:t>$table-&gt;timestamps();</a:t>
            </a:r>
          </a:p>
        </p:txBody>
      </p:sp>
      <p:sp>
        <p:nvSpPr>
          <p:cNvPr id="62" name="H2"/>
          <p:cNvSpPr/>
          <p:nvPr/>
        </p:nvSpPr>
        <p:spPr>
          <a:xfrm>
            <a:off x="6223000" y="17272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91440" rIns="160020" bIns="91440" anchor="ctr"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Schema::create('kontrol', …)</a:t>
            </a:r>
          </a:p>
        </p:txBody>
      </p:sp>
      <p:sp>
        <p:nvSpPr>
          <p:cNvPr id="63" name="K2"/>
          <p:cNvSpPr/>
          <p:nvPr/>
        </p:nvSpPr>
        <p:spPr>
          <a:xfrm>
            <a:off x="6223000" y="2159000"/>
            <a:ext cx="5257800" cy="18796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400" b="0" dirty="0">
                <a:solidFill>
                  <a:srgbClr val="FFE6C7"/>
                </a:solidFill>
                <a:latin typeface="Consolas"/>
              </a:rPr>
              <a:t>$table-&gt;id();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FFE6C7"/>
                </a:solidFill>
                <a:latin typeface="Consolas"/>
              </a:rPr>
              <a:t>$table-&gt;string('LED', 3)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FFE6C7"/>
                </a:solidFill>
                <a:latin typeface="Consolas"/>
              </a:rPr>
              <a:t>        -&gt;default('OFF');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FFE6C7"/>
                </a:solidFill>
                <a:latin typeface="Consolas"/>
              </a:rPr>
              <a:t>$table-&gt;timestamps();</a:t>
            </a:r>
          </a:p>
        </p:txBody>
      </p:sp>
      <p:sp>
        <p:nvSpPr>
          <p:cNvPr id="70" name="E1"/>
          <p:cNvSpPr/>
          <p:nvPr/>
        </p:nvSpPr>
        <p:spPr>
          <a:xfrm>
            <a:off x="711200" y="4140200"/>
            <a:ext cx="5257800" cy="17780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float untuk suhu (°C) dan kelembapan (%)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integer untuk nilai ADC potensiometer (0–1024)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nullable() → boleh kosong bila sensor gagal terbaca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timestamps() → kolom created_at &amp; updated_at otomatis</a:t>
            </a:r>
          </a:p>
        </p:txBody>
      </p:sp>
      <p:sp>
        <p:nvSpPr>
          <p:cNvPr id="71" name="E2"/>
          <p:cNvSpPr/>
          <p:nvPr/>
        </p:nvSpPr>
        <p:spPr>
          <a:xfrm>
            <a:off x="6223000" y="4140200"/>
            <a:ext cx="5257800" cy="1778000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6CBA6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Menyimpan status LED terkini: ON atau OFF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default('OFF') → nilai awal saat tabel dibuat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Migration menyisipkan 1 baris awal agar tabel tak pernah kosong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6019800"/>
            <a:ext cx="10769600" cy="431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ctr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Jalankan php artisan migrate untuk mewujudkan kedua tabel di database laravel_iot.</a:t>
            </a:r>
          </a:p>
        </p:txBody>
      </p:sp>
    </p:spTree>
    <p:extLst>
      <p:ext uri="{BB962C8B-B14F-4D97-AF65-F5344CB8AC3E}">
        <p14:creationId xmlns:p14="http://schemas.microsoft.com/office/powerpoint/2010/main" val="286827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458F-914F-9053-356B-0BD987AC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Form Request: Validasi Input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91440" rIns="160020" bIns="9144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03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70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91440" rIns="160020" bIns="9144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0" dirty="0">
                <a:solidFill>
                  <a:srgbClr val="5C7099"/>
                </a:solidFill>
              </a:rPr>
              <a:t>Data disaring lebih dulu, sebelum sampai ke controller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727200"/>
            <a:ext cx="5257800" cy="4318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91440" rIns="160020" bIns="91440" anchor="ctr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StoreSensorReadingRequest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184400"/>
            <a:ext cx="5257800" cy="22860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public function rules(): array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return [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'suhu' =&gt; ['nullable', 'numeric'],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'kelembapan' =&gt; ['nullable', 'numeric'],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'potensio' =&gt; ['nullable', 'integer'],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];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}</a:t>
            </a:r>
          </a:p>
        </p:txBody>
      </p:sp>
      <p:sp>
        <p:nvSpPr>
          <p:cNvPr id="62" name="H2"/>
          <p:cNvSpPr/>
          <p:nvPr/>
        </p:nvSpPr>
        <p:spPr>
          <a:xfrm>
            <a:off x="6223000" y="1727200"/>
            <a:ext cx="5257800" cy="4318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91440" rIns="160020" bIns="91440" anchor="ctr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UpdateLedStatusRequest</a:t>
            </a:r>
          </a:p>
        </p:txBody>
      </p:sp>
      <p:sp>
        <p:nvSpPr>
          <p:cNvPr id="63" name="K2"/>
          <p:cNvSpPr/>
          <p:nvPr/>
        </p:nvSpPr>
        <p:spPr>
          <a:xfrm>
            <a:off x="6223000" y="2184400"/>
            <a:ext cx="5257800" cy="22860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91440" rIns="160020" bIns="9144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public function rules(): array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return [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    'status' =&gt; ['required', 'string',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        Rule::in(['ON', 'OFF'])],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];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}</a:t>
            </a:r>
          </a:p>
        </p:txBody>
      </p:sp>
      <p:sp>
        <p:nvSpPr>
          <p:cNvPr id="70" name="E1"/>
          <p:cNvSpPr/>
          <p:nvPr/>
        </p:nvSpPr>
        <p:spPr>
          <a:xfrm>
            <a:off x="711200" y="4597400"/>
            <a:ext cx="5257800" cy="1473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nullable → boleh kosong saat sensor gagal terbaca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numeric / integer → memastikan tipe data benar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authorize() bernilai true karena dipanggil ESP8266 tanpa login</a:t>
            </a:r>
          </a:p>
        </p:txBody>
      </p:sp>
      <p:sp>
        <p:nvSpPr>
          <p:cNvPr id="71" name="E2"/>
          <p:cNvSpPr/>
          <p:nvPr/>
        </p:nvSpPr>
        <p:spPr>
          <a:xfrm>
            <a:off x="6223000" y="4597400"/>
            <a:ext cx="5257800" cy="1473200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6CBA6"/>
            </a:solidFill>
          </a:ln>
        </p:spPr>
        <p:txBody>
          <a:bodyPr wrap="square" lIns="160020" tIns="91440" rIns="160020" bIns="9144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required → status wajib dikirim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Rule::in(['ON','OFF']) → hanya dua nilai itu yang diterima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Mencegah nilai typo seperti "on" atau "1" masuk database</a:t>
            </a:r>
          </a:p>
        </p:txBody>
      </p:sp>
      <p:sp>
        <p:nvSpPr>
          <p:cNvPr id="80" name="Cmd"/>
          <p:cNvSpPr/>
          <p:nvPr/>
        </p:nvSpPr>
        <p:spPr>
          <a:xfrm>
            <a:off x="711200" y="6172200"/>
            <a:ext cx="1076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91440" rIns="160020" bIns="91440" anchor="t"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D4ED8"/>
                </a:solidFill>
                <a:latin typeface="Consolas"/>
              </a:rPr>
              <a:t>php artisan make:request StoreSensorReadingRequest   ·   php artisan make:request UpdateLedStatusRequest</a:t>
            </a:r>
          </a:p>
        </p:txBody>
      </p:sp>
    </p:spTree>
    <p:extLst>
      <p:ext uri="{BB962C8B-B14F-4D97-AF65-F5344CB8AC3E}">
        <p14:creationId xmlns:p14="http://schemas.microsoft.com/office/powerpoint/2010/main" val="695583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4361-C603-7E4A-E09C-9055F2F1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800" b="1" dirty="0">
                <a:solidFill>
                  <a:srgbClr val="152238"/>
                </a:solidFill>
              </a:rPr>
              <a:t>API Resource: Format Response JSON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03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44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Merapikan nama field dan tipe data sebelum dikirim ke client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510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SensorReadingResource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082800"/>
            <a:ext cx="5257800" cy="1854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fontScale="92500" lnSpcReduction="2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return [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'id' =&gt; $this-&gt;id,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'suhu' =&gt; (float) $this-&gt;suhu,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'kelembapan' =&gt; (float) $this-&gt;kelembapan,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'potensio' =&gt; (int) $this-&gt;potensio,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'recorded_at' =&gt; $this-&gt;created_at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    ?-&gt;toIso8601String(),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];</a:t>
            </a:r>
          </a:p>
        </p:txBody>
      </p:sp>
      <p:sp>
        <p:nvSpPr>
          <p:cNvPr id="62" name="H2"/>
          <p:cNvSpPr/>
          <p:nvPr/>
        </p:nvSpPr>
        <p:spPr>
          <a:xfrm>
            <a:off x="6223000" y="1651000"/>
            <a:ext cx="5257800" cy="406400"/>
          </a:xfrm>
          <a:prstGeom prst="roundRect">
            <a:avLst/>
          </a:prstGeom>
          <a:solidFill>
            <a:srgbClr val="07714F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Contoh response JSON</a:t>
            </a:r>
          </a:p>
        </p:txBody>
      </p:sp>
      <p:sp>
        <p:nvSpPr>
          <p:cNvPr id="63" name="J1"/>
          <p:cNvSpPr/>
          <p:nvPr/>
        </p:nvSpPr>
        <p:spPr>
          <a:xfrm>
            <a:off x="6223000" y="2082800"/>
            <a:ext cx="5257800" cy="185420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9FE3C6"/>
            </a:solidFill>
          </a:ln>
        </p:spPr>
        <p:txBody>
          <a:bodyPr wrap="square" lIns="160020" tIns="76200" rIns="160020" bIns="76200" anchor="t">
            <a:normAutofit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    "id": 128,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    "suhu": 29.4,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    "kelembapan": 71.2,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    "potensio": 512,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    "recorded_at": "2026-08-08T09:14:02+07:00"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}</a:t>
            </a:r>
          </a:p>
        </p:txBody>
      </p:sp>
      <p:sp>
        <p:nvSpPr>
          <p:cNvPr id="64" name="H3"/>
          <p:cNvSpPr/>
          <p:nvPr/>
        </p:nvSpPr>
        <p:spPr>
          <a:xfrm>
            <a:off x="711200" y="40640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LedStatusResource</a:t>
            </a:r>
          </a:p>
        </p:txBody>
      </p:sp>
      <p:sp>
        <p:nvSpPr>
          <p:cNvPr id="65" name="K2"/>
          <p:cNvSpPr/>
          <p:nvPr/>
        </p:nvSpPr>
        <p:spPr>
          <a:xfrm>
            <a:off x="711200" y="4495800"/>
            <a:ext cx="5257800" cy="1320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fontScale="92500"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return [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'status' =&gt; $this-&gt;LED,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'updated_at' =&gt; $this-&gt;updated_at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        ?-&gt;toIso8601String(),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];</a:t>
            </a:r>
          </a:p>
        </p:txBody>
      </p:sp>
      <p:sp>
        <p:nvSpPr>
          <p:cNvPr id="66" name="H4"/>
          <p:cNvSpPr/>
          <p:nvPr/>
        </p:nvSpPr>
        <p:spPr>
          <a:xfrm>
            <a:off x="6223000" y="4064000"/>
            <a:ext cx="5257800" cy="406400"/>
          </a:xfrm>
          <a:prstGeom prst="roundRect">
            <a:avLst/>
          </a:prstGeom>
          <a:solidFill>
            <a:srgbClr val="07714F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Contoh response JSON</a:t>
            </a:r>
          </a:p>
        </p:txBody>
      </p:sp>
      <p:sp>
        <p:nvSpPr>
          <p:cNvPr id="67" name="J2"/>
          <p:cNvSpPr/>
          <p:nvPr/>
        </p:nvSpPr>
        <p:spPr>
          <a:xfrm>
            <a:off x="6223000" y="4495800"/>
            <a:ext cx="5257800" cy="132080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9FE3C6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    "status": "ON",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    "updated_at": "2026-08-08T09:15:40+07:00"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0A5C42"/>
                </a:solidFill>
                <a:latin typeface="Consolas"/>
              </a:rPr>
              <a:t>}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5943600"/>
            <a:ext cx="10769600" cy="558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ctr">
            <a:normAutofit fontScale="925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Kolom database LED di-rename menjadi field JSON status — nama rapi, tipe data pasti, mudah dibaca dashboard &amp; Arduino.</a:t>
            </a:r>
          </a:p>
        </p:txBody>
      </p:sp>
    </p:spTree>
    <p:extLst>
      <p:ext uri="{BB962C8B-B14F-4D97-AF65-F5344CB8AC3E}">
        <p14:creationId xmlns:p14="http://schemas.microsoft.com/office/powerpoint/2010/main" val="123586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E485-315A-622A-59AE-DD6C898B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Controller API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04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44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Otak sistem: menerima, menyimpan, dan menyajikan data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256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SensorReadingController</a:t>
            </a:r>
          </a:p>
        </p:txBody>
      </p:sp>
      <p:sp>
        <p:nvSpPr>
          <p:cNvPr id="61" name="B1"/>
          <p:cNvSpPr/>
          <p:nvPr/>
        </p:nvSpPr>
        <p:spPr>
          <a:xfrm>
            <a:off x="711200" y="2057400"/>
            <a:ext cx="5257800" cy="2616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D4ED8"/>
                </a:solidFill>
                <a:latin typeface="Consolas"/>
              </a:rPr>
              <a:t>index()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Riwayat data sensor dengan pagination, dibatasi maksimal 100 baris per permintaan.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id-ID" sz="1400" b="1" dirty="0">
                <a:solidFill>
                  <a:srgbClr val="1D4ED8"/>
                </a:solidFill>
                <a:latin typeface="Consolas"/>
              </a:rPr>
              <a:t>store()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Dipanggil ESP8266. Validasi berjalan otomatis, lalu balas 201 Created.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id-ID" sz="1400" b="1" dirty="0">
                <a:solidFill>
                  <a:srgbClr val="1D4ED8"/>
                </a:solidFill>
                <a:latin typeface="Consolas"/>
              </a:rPr>
              <a:t>latest()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Satu data terbaru untuk dashboard; balas 404 bila tabel masih kosong.</a:t>
            </a:r>
          </a:p>
        </p:txBody>
      </p:sp>
      <p:sp>
        <p:nvSpPr>
          <p:cNvPr id="62" name="H2"/>
          <p:cNvSpPr/>
          <p:nvPr/>
        </p:nvSpPr>
        <p:spPr>
          <a:xfrm>
            <a:off x="6223000" y="16256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LedStatusController</a:t>
            </a:r>
          </a:p>
        </p:txBody>
      </p:sp>
      <p:sp>
        <p:nvSpPr>
          <p:cNvPr id="63" name="B2"/>
          <p:cNvSpPr/>
          <p:nvPr/>
        </p:nvSpPr>
        <p:spPr>
          <a:xfrm>
            <a:off x="6223000" y="2057400"/>
            <a:ext cx="5257800" cy="2616200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6CBA6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B4520A"/>
                </a:solidFill>
                <a:latin typeface="Consolas"/>
              </a:rPr>
              <a:t>show()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Membaca status LED terkini — dipanggil ESP8266 tiap 2 detik, dashboard tiap 5 detik.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id-ID" sz="1400" b="1" dirty="0">
                <a:solidFill>
                  <a:srgbClr val="B4520A"/>
                </a:solidFill>
                <a:latin typeface="Consolas"/>
              </a:rPr>
              <a:t>update()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Mengubah status ke nilai yang dikirim client (sudah tervalidasi ON/OFF).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id-ID" sz="1400" b="1" dirty="0">
                <a:solidFill>
                  <a:srgbClr val="B4520A"/>
                </a:solidFill>
                <a:latin typeface="Consolas"/>
              </a:rPr>
              <a:t>toggle()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Membalik status otomatis; dipakai tombol pada dashboard.</a:t>
            </a:r>
          </a:p>
        </p:txBody>
      </p:sp>
      <p:sp>
        <p:nvSpPr>
          <p:cNvPr id="70" name="Dash"/>
          <p:cNvSpPr/>
          <p:nvPr/>
        </p:nvSpPr>
        <p:spPr>
          <a:xfrm>
            <a:off x="711200" y="4851400"/>
            <a:ext cx="5257800" cy="939800"/>
          </a:xfrm>
          <a:prstGeom prst="roundRect">
            <a:avLst/>
          </a:prstGeom>
          <a:solidFill>
            <a:srgbClr val="F2EBFE"/>
          </a:solidFill>
          <a:ln w="12700">
            <a:solidFill>
              <a:srgbClr val="C4A8F7"/>
            </a:solidFill>
          </a:ln>
        </p:spPr>
        <p:txBody>
          <a:bodyPr wrap="square" lIns="160020" tIns="76200" rIns="160020" bIns="7620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6B21D8"/>
                </a:solidFill>
                <a:latin typeface="Consolas"/>
              </a:rPr>
              <a:t>DashboardController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index() → return view('Dashboard'); menampilkan halaman dashboard Blade.</a:t>
            </a:r>
          </a:p>
        </p:txBody>
      </p:sp>
      <p:sp>
        <p:nvSpPr>
          <p:cNvPr id="71" name="Cmd"/>
          <p:cNvSpPr/>
          <p:nvPr/>
        </p:nvSpPr>
        <p:spPr>
          <a:xfrm>
            <a:off x="6223000" y="4851400"/>
            <a:ext cx="5257800" cy="939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make:controller \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Api/SensorReadingController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id-ID" sz="1300" b="0" dirty="0">
                <a:solidFill>
                  <a:srgbClr val="9FB6D8"/>
                </a:solidFill>
              </a:rPr>
              <a:t>(ulangi untuk LedStatusController &amp; DashboardController)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5918200"/>
            <a:ext cx="10769600" cy="5080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 fontScale="925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Form Request dipanggil otomatis oleh Laravel sebelum method controller dieksekusi — data tak valid ditolak dengan error 422.</a:t>
            </a:r>
          </a:p>
        </p:txBody>
      </p:sp>
    </p:spTree>
    <p:extLst>
      <p:ext uri="{BB962C8B-B14F-4D97-AF65-F5344CB8AC3E}">
        <p14:creationId xmlns:p14="http://schemas.microsoft.com/office/powerpoint/2010/main" val="3410758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F78E-2836-17B9-0F40-339A5351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Routing: api.php &amp; web.php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04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44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Menghubungkan URL dengan method controller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25600"/>
            <a:ext cx="71120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routes/api.php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057400"/>
            <a:ext cx="7112000" cy="32004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Route::name('api.')-&gt;group(function () {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Route::get('sensor-readings',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[SensorReadingController::class, 'index']);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Route::post('sensor-readings',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[SensorReadingController::class, 'store']);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Route::get('sensor-readings/latest',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[SensorReadingController::class, 'latest']);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Route::get('led',  [LedStatusController::class, 'show']);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Route::put('led',  [LedStatusController::class, 'update']);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Route::post('led/toggle',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[LedStatusController::class, 'toggle']);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});</a:t>
            </a:r>
          </a:p>
        </p:txBody>
      </p:sp>
      <p:sp>
        <p:nvSpPr>
          <p:cNvPr id="62" name="H2"/>
          <p:cNvSpPr/>
          <p:nvPr/>
        </p:nvSpPr>
        <p:spPr>
          <a:xfrm>
            <a:off x="8026400" y="1625600"/>
            <a:ext cx="34544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routes/web.php</a:t>
            </a:r>
          </a:p>
        </p:txBody>
      </p:sp>
      <p:sp>
        <p:nvSpPr>
          <p:cNvPr id="63" name="K2"/>
          <p:cNvSpPr/>
          <p:nvPr/>
        </p:nvSpPr>
        <p:spPr>
          <a:xfrm>
            <a:off x="8026400" y="2057400"/>
            <a:ext cx="3454400" cy="1092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Route::get('/',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[DashboardController::class, 'index'])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-&gt;name('rest.index');</a:t>
            </a:r>
          </a:p>
        </p:txBody>
      </p:sp>
      <p:sp>
        <p:nvSpPr>
          <p:cNvPr id="70" name="E"/>
          <p:cNvSpPr/>
          <p:nvPr/>
        </p:nvSpPr>
        <p:spPr>
          <a:xfrm>
            <a:off x="8026400" y="3276600"/>
            <a:ext cx="3454400" cy="1981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Semua rute otomatis berawalan /api/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Nama rute diberi prefix api. lewat Route::name()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URL utama (/) langsung membuka dashboard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5410200"/>
            <a:ext cx="10769600" cy="736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FFFFFF"/>
                </a:solidFill>
              </a:rPr>
              <a:t>Total 6 endpoint: 3 untuk data sensor, 3 untuk kontrol LED.</a:t>
            </a:r>
          </a:p>
        </p:txBody>
      </p:sp>
    </p:spTree>
    <p:extLst>
      <p:ext uri="{BB962C8B-B14F-4D97-AF65-F5344CB8AC3E}">
        <p14:creationId xmlns:p14="http://schemas.microsoft.com/office/powerpoint/2010/main" val="313245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EFE3-549C-A7DF-D440-43EBD7996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Dashboard Blade &amp; Polling Data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04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44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  <a:latin typeface="Consolas"/>
              </a:rPr>
              <a:t>resources/views/Dashboard.blade.php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25600"/>
            <a:ext cx="5461000" cy="4064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ISI HALAMAN DASHBOARD</a:t>
            </a:r>
          </a:p>
        </p:txBody>
      </p:sp>
      <p:sp>
        <p:nvSpPr>
          <p:cNvPr id="61" name="B1"/>
          <p:cNvSpPr/>
          <p:nvPr/>
        </p:nvSpPr>
        <p:spPr>
          <a:xfrm>
            <a:off x="711200" y="2057400"/>
            <a:ext cx="5461000" cy="31750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 lnSpcReduction="10000"/>
          </a:bodyPr>
          <a:lstStyle/>
          <a:p>
            <a:pPr marL="171450" indent="-171450">
              <a:lnSpc>
                <a:spcPct val="110000"/>
              </a:lnSpc>
              <a:buFont typeface="Arial"/>
              <a:buChar char="•"/>
            </a:pPr>
            <a:r>
              <a:rPr lang="id-ID" sz="1600" dirty="0">
                <a:solidFill>
                  <a:srgbClr val="2E4667"/>
                </a:solidFill>
              </a:rPr>
              <a:t>Bootstrap 5.3 untuk tata letak dan komponen</a:t>
            </a:r>
          </a:p>
          <a:p>
            <a:pPr marL="171450" indent="-1714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id-ID" sz="1600" dirty="0">
                <a:solidFill>
                  <a:srgbClr val="2E4667"/>
                </a:solidFill>
              </a:rPr>
              <a:t>Raphael + JustGage untuk tiga gauge melingkar</a:t>
            </a:r>
          </a:p>
          <a:p>
            <a:pPr marL="171450" indent="-1714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id-ID" sz="1600" dirty="0">
                <a:solidFill>
                  <a:srgbClr val="2E4667"/>
                </a:solidFill>
              </a:rPr>
              <a:t>Gauge Suhu (°C), Kelembapan (%), Potensio (0–1024)</a:t>
            </a:r>
          </a:p>
          <a:p>
            <a:pPr marL="171450" indent="-1714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id-ID" sz="1600" dirty="0">
                <a:solidFill>
                  <a:srgbClr val="2E4667"/>
                </a:solidFill>
              </a:rPr>
              <a:t>Badge penanda status koneksi ke server</a:t>
            </a:r>
          </a:p>
          <a:p>
            <a:pPr marL="171450" indent="-1714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id-ID" sz="1600" dirty="0">
                <a:solidFill>
                  <a:srgbClr val="2E4667"/>
                </a:solidFill>
              </a:rPr>
              <a:t>Tombol LED memanggil POST /api/led/toggle</a:t>
            </a:r>
          </a:p>
          <a:p>
            <a:pPr marL="171450" indent="-1714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id-ID" sz="1600" dirty="0">
                <a:solidFill>
                  <a:srgbClr val="2E4667"/>
                </a:solidFill>
              </a:rPr>
              <a:t>fetch() JavaScript memperbarui data tiap 5 detik</a:t>
            </a:r>
          </a:p>
          <a:p>
            <a:pPr marL="171450" indent="-1714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id-ID" sz="1600" dirty="0">
                <a:solidFill>
                  <a:srgbClr val="2E4667"/>
                </a:solidFill>
              </a:rPr>
              <a:t>Data diperbarui tanpa perlu memuat ulang halaman</a:t>
            </a:r>
          </a:p>
        </p:txBody>
      </p:sp>
      <p:sp>
        <p:nvSpPr>
          <p:cNvPr id="70" name="Mock"/>
          <p:cNvSpPr/>
          <p:nvPr/>
        </p:nvSpPr>
        <p:spPr>
          <a:xfrm>
            <a:off x="6426200" y="1625600"/>
            <a:ext cx="5054600" cy="36068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C9D8EF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endParaRPr lang="id-ID"/>
          </a:p>
        </p:txBody>
      </p:sp>
      <p:sp>
        <p:nvSpPr>
          <p:cNvPr id="71" name="MockHead"/>
          <p:cNvSpPr/>
          <p:nvPr/>
        </p:nvSpPr>
        <p:spPr>
          <a:xfrm>
            <a:off x="6604000" y="1803400"/>
            <a:ext cx="4699000" cy="5588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FFFFFF"/>
                </a:solidFill>
              </a:rPr>
              <a:t>Data Sensor DHT &amp; Potensio</a:t>
            </a:r>
          </a:p>
        </p:txBody>
      </p:sp>
      <p:sp>
        <p:nvSpPr>
          <p:cNvPr id="72" name="G0"/>
          <p:cNvSpPr/>
          <p:nvPr/>
        </p:nvSpPr>
        <p:spPr>
          <a:xfrm>
            <a:off x="6604000" y="2489200"/>
            <a:ext cx="469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369A1"/>
                </a:solidFill>
              </a:rPr>
              <a:t>Suhu        29.4 °C</a:t>
            </a:r>
          </a:p>
        </p:txBody>
      </p:sp>
      <p:sp>
        <p:nvSpPr>
          <p:cNvPr id="73" name="G1"/>
          <p:cNvSpPr/>
          <p:nvPr/>
        </p:nvSpPr>
        <p:spPr>
          <a:xfrm>
            <a:off x="6604000" y="3200400"/>
            <a:ext cx="469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7714F"/>
                </a:solidFill>
              </a:rPr>
              <a:t>Kelembapan        71.2 %</a:t>
            </a:r>
          </a:p>
        </p:txBody>
      </p:sp>
      <p:sp>
        <p:nvSpPr>
          <p:cNvPr id="74" name="G2"/>
          <p:cNvSpPr/>
          <p:nvPr/>
        </p:nvSpPr>
        <p:spPr>
          <a:xfrm>
            <a:off x="6604000" y="3911600"/>
            <a:ext cx="4699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7C3AED"/>
                </a:solidFill>
              </a:rPr>
              <a:t>Potensio        512</a:t>
            </a:r>
          </a:p>
        </p:txBody>
      </p:sp>
      <p:sp>
        <p:nvSpPr>
          <p:cNvPr id="78" name="Btn"/>
          <p:cNvSpPr/>
          <p:nvPr/>
        </p:nvSpPr>
        <p:spPr>
          <a:xfrm>
            <a:off x="6604000" y="4622800"/>
            <a:ext cx="4699000" cy="4826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Nyalakan LED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5410200"/>
            <a:ext cx="10769600" cy="7366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FFFFFF"/>
                </a:solidFill>
              </a:rPr>
              <a:t>Dashboard memanggil /api/sensor-readings/latest dan /api/led setiap 5 detik — tampilan selalu mengikuti data terbaru.</a:t>
            </a:r>
          </a:p>
        </p:txBody>
      </p:sp>
    </p:spTree>
    <p:extLst>
      <p:ext uri="{BB962C8B-B14F-4D97-AF65-F5344CB8AC3E}">
        <p14:creationId xmlns:p14="http://schemas.microsoft.com/office/powerpoint/2010/main" val="76509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83A9-5D6E-5342-A7D7-31BEA53B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800" b="1" dirty="0">
                <a:solidFill>
                  <a:srgbClr val="152238"/>
                </a:solidFill>
              </a:rPr>
              <a:t>Instalasi Arduino IDE &amp; Board ESP8266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05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44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Menyiapkan lingkungan pemrograman untuk board NodeMCU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25600"/>
            <a:ext cx="5969000" cy="4064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LANGKAH INSTALASI</a:t>
            </a:r>
          </a:p>
        </p:txBody>
      </p:sp>
      <p:sp>
        <p:nvSpPr>
          <p:cNvPr id="61" name="B1"/>
          <p:cNvSpPr/>
          <p:nvPr/>
        </p:nvSpPr>
        <p:spPr>
          <a:xfrm>
            <a:off x="711200" y="2057400"/>
            <a:ext cx="5969000" cy="3175000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6CBA6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1.  Unduh dan instal Arduino IDE versi 2.x</a:t>
            </a:r>
          </a:p>
          <a:p>
            <a:pPr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2.  Buka File → Preferences (ikon gerigi)</a:t>
            </a:r>
          </a:p>
          <a:p>
            <a:pPr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3.  Isi kolom "Additional Boards Manager URLs" dengan URL di samping</a:t>
            </a:r>
          </a:p>
          <a:p>
            <a:pPr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4.  Buka Tools → Board → Boards Manager, cari "esp8266"</a:t>
            </a:r>
          </a:p>
          <a:p>
            <a:pPr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5.  Pasang paket "esp8266 by ESP8266 Community"</a:t>
            </a:r>
          </a:p>
        </p:txBody>
      </p:sp>
      <p:sp>
        <p:nvSpPr>
          <p:cNvPr id="70" name="H2"/>
          <p:cNvSpPr/>
          <p:nvPr/>
        </p:nvSpPr>
        <p:spPr>
          <a:xfrm>
            <a:off x="6934200" y="1625600"/>
            <a:ext cx="45466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7FD4FF"/>
                </a:solidFill>
                <a:latin typeface="Consolas"/>
              </a:rPr>
              <a:t>Additional Boards Manager URLs</a:t>
            </a:r>
          </a:p>
        </p:txBody>
      </p:sp>
      <p:sp>
        <p:nvSpPr>
          <p:cNvPr id="71" name="Url"/>
          <p:cNvSpPr/>
          <p:nvPr/>
        </p:nvSpPr>
        <p:spPr>
          <a:xfrm>
            <a:off x="6934200" y="2057400"/>
            <a:ext cx="4546600" cy="1092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http://arduino.esp8266.com/stable/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package_esp8266com_index.json</a:t>
            </a:r>
          </a:p>
        </p:txBody>
      </p:sp>
      <p:sp>
        <p:nvSpPr>
          <p:cNvPr id="72" name="Anal"/>
          <p:cNvSpPr/>
          <p:nvPr/>
        </p:nvSpPr>
        <p:spPr>
          <a:xfrm>
            <a:off x="6934200" y="3276600"/>
            <a:ext cx="4546600" cy="1955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D4ED8"/>
                </a:solidFill>
              </a:rPr>
              <a:t>Analogi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id-ID" sz="1400" b="0" dirty="0">
                <a:solidFill>
                  <a:srgbClr val="2E4667"/>
                </a:solidFill>
              </a:rPr>
              <a:t>Kolom ini berperan seperti composer.json pada Laravel — mendaftarkan sumber paket tambahan agar board pihak ketiga dikenali IDE.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5410200"/>
            <a:ext cx="10769600" cy="7366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FFFFFF"/>
                </a:solidFill>
              </a:rPr>
              <a:t>ESP8266WiFi dan ESP8266HTTPClient tidak perlu diinstal manual — otomatis tersedia setelah paket board terpasang.</a:t>
            </a:r>
          </a:p>
        </p:txBody>
      </p:sp>
    </p:spTree>
    <p:extLst>
      <p:ext uri="{BB962C8B-B14F-4D97-AF65-F5344CB8AC3E}">
        <p14:creationId xmlns:p14="http://schemas.microsoft.com/office/powerpoint/2010/main" val="2952211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21D6-1D22-7B39-3BD4-28610DA0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>
            <a:normAutofit/>
          </a:bodyPr>
          <a:lstStyle/>
          <a:p>
            <a:r>
              <a:rPr lang="it-IT" sz="3000" b="1"/>
              <a:t>Library Wajib di Arduino IDE</a:t>
            </a:r>
            <a:endParaRPr lang="id-ID" sz="3000" b="1"/>
          </a:p>
        </p:txBody>
      </p:sp>
      <p:sp>
        <p:nvSpPr>
          <p:cNvPr id="3" name="Badge">
            <a:extLst>
              <a:ext uri="{FF2B5EF4-FFF2-40B4-BE49-F238E27FC236}">
                <a16:creationId xmlns:a16="http://schemas.microsoft.com/office/drawing/2014/main" id="{878ECF4C-A9FD-47CE-8095-F0B44382874A}"/>
              </a:ext>
            </a:extLst>
          </p:cNvPr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B4520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d-ID" sz="1400" b="1">
                <a:solidFill>
                  <a:srgbClr val="FFFFFF"/>
                </a:solidFill>
              </a:rPr>
              <a:t>MODUL 05</a:t>
            </a:r>
          </a:p>
        </p:txBody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543C8E15-5BCA-465B-9CCB-25785228D60B}"/>
              </a:ext>
            </a:extLst>
          </p:cNvPr>
          <p:cNvSpPr txBox="1"/>
          <p:nvPr/>
        </p:nvSpPr>
        <p:spPr>
          <a:xfrm>
            <a:off x="711200" y="12446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d-ID" sz="1500">
                <a:solidFill>
                  <a:srgbClr val="5C7099"/>
                </a:solidFill>
              </a:rPr>
              <a:t>Sketch → Include Library → Manage Libraries, lalu pasang satu per satu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E2D09E-C81F-403C-886C-C70E5873B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705526"/>
              </p:ext>
            </p:extLst>
          </p:nvPr>
        </p:nvGraphicFramePr>
        <p:xfrm>
          <a:off x="711200" y="1905000"/>
          <a:ext cx="107696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360259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64779085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132869089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FFFFFF"/>
                          </a:solidFill>
                        </a:rPr>
                        <a:t>Library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FFFFFF"/>
                          </a:solidFill>
                        </a:rPr>
                        <a:t>Fungsi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98668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DHT sensor library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Adafruit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Membaca data sensor DHT22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77605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Adafruit Unified Sensor</a:t>
                      </a:r>
                    </a:p>
                  </a:txBody>
                  <a:tcPr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Adafruit</a:t>
                      </a:r>
                    </a:p>
                  </a:txBody>
                  <a:tcPr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Dependency dari DHT sensor library</a:t>
                      </a:r>
                    </a:p>
                  </a:txBody>
                  <a:tcPr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3662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WiFiManager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tzapu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Konfigurasi WiFi otomatis tanpa hardcode SSID/password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47289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ArduinoJson</a:t>
                      </a:r>
                    </a:p>
                  </a:txBody>
                  <a:tcPr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Benoit Blanchon (v6.21.x)</a:t>
                      </a:r>
                    </a:p>
                  </a:txBody>
                  <a:tcPr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Membuat &amp; membaca JSON untuk komunikasi API</a:t>
                      </a:r>
                    </a:p>
                  </a:txBody>
                  <a:tcPr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936685"/>
                  </a:ext>
                </a:extLst>
              </a:tr>
            </a:tbl>
          </a:graphicData>
        </a:graphic>
      </p:graphicFrame>
      <p:sp>
        <p:nvSpPr>
          <p:cNvPr id="7" name="Note">
            <a:extLst>
              <a:ext uri="{FF2B5EF4-FFF2-40B4-BE49-F238E27FC236}">
                <a16:creationId xmlns:a16="http://schemas.microsoft.com/office/drawing/2014/main" id="{D9083F24-5149-43A0-BFE6-729A15719A92}"/>
              </a:ext>
            </a:extLst>
          </p:cNvPr>
          <p:cNvSpPr/>
          <p:nvPr/>
        </p:nvSpPr>
        <p:spPr>
          <a:xfrm>
            <a:off x="711200" y="5080000"/>
            <a:ext cx="10769600" cy="965200"/>
          </a:xfrm>
          <a:prstGeom prst="roundRect">
            <a:avLst/>
          </a:prstGeom>
          <a:solidFill>
            <a:srgbClr val="FFF8F2"/>
          </a:solidFill>
          <a:ln w="12700" cap="flat" cmpd="sng" algn="ctr">
            <a:solidFill>
              <a:srgbClr val="F6CB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id-ID" sz="1500" b="1">
                <a:solidFill>
                  <a:srgbClr val="7A4517"/>
                </a:solidFill>
              </a:rPr>
              <a:t>Pastikan versi ArduinoJson 6.21.x — sintaks StaticJsonDocument yang dipakai pada modul ini mengikuti ArduinoJson versi 6.</a:t>
            </a:r>
          </a:p>
        </p:txBody>
      </p:sp>
    </p:spTree>
    <p:extLst>
      <p:ext uri="{BB962C8B-B14F-4D97-AF65-F5344CB8AC3E}">
        <p14:creationId xmlns:p14="http://schemas.microsoft.com/office/powerpoint/2010/main" val="2451095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7AFE-D348-5797-4C4E-67B84E1C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>
            <a:normAutofit/>
          </a:bodyPr>
          <a:lstStyle/>
          <a:p>
            <a:r>
              <a:rPr lang="id-ID" sz="3000" b="1"/>
              <a:t>Wiring: Merangkai Hardware</a:t>
            </a:r>
          </a:p>
        </p:txBody>
      </p:sp>
      <p:sp>
        <p:nvSpPr>
          <p:cNvPr id="3" name="Badge">
            <a:extLst>
              <a:ext uri="{FF2B5EF4-FFF2-40B4-BE49-F238E27FC236}">
                <a16:creationId xmlns:a16="http://schemas.microsoft.com/office/drawing/2014/main" id="{BC4472DE-5FAA-49C4-955A-7F19532DA144}"/>
              </a:ext>
            </a:extLst>
          </p:cNvPr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B4520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d-ID" sz="1400" b="1">
                <a:solidFill>
                  <a:srgbClr val="FFFFFF"/>
                </a:solidFill>
              </a:rPr>
              <a:t>MODUL 06</a:t>
            </a:r>
          </a:p>
        </p:txBody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47A69D37-1015-450D-B034-319AF2BF0965}"/>
              </a:ext>
            </a:extLst>
          </p:cNvPr>
          <p:cNvSpPr txBox="1"/>
          <p:nvPr/>
        </p:nvSpPr>
        <p:spPr>
          <a:xfrm>
            <a:off x="711200" y="1219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n-NO" sz="1500">
                <a:solidFill>
                  <a:srgbClr val="5C7099"/>
                </a:solidFill>
              </a:rPr>
              <a:t>Rangkai seluruh komponen ke NodeMCU sebelum board dinyalakan</a:t>
            </a:r>
            <a:endParaRPr lang="id-ID" sz="1500">
              <a:solidFill>
                <a:srgbClr val="5C7099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AF5886-3381-459F-A022-F66C9B934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798818"/>
              </p:ext>
            </p:extLst>
          </p:nvPr>
        </p:nvGraphicFramePr>
        <p:xfrm>
          <a:off x="711200" y="1651000"/>
          <a:ext cx="10769600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06579705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46856227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63292225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75062835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FFFFFF"/>
                          </a:solidFill>
                        </a:rPr>
                        <a:t>Komponen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FFFFFF"/>
                          </a:solidFill>
                        </a:rPr>
                        <a:t>Pin Komponen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FFFFFF"/>
                          </a:solidFill>
                        </a:rPr>
                        <a:t>Terhubung ke ESP8266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FFFFFF"/>
                          </a:solidFill>
                        </a:rPr>
                        <a:t>Warna Kabel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715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DHT22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VCC (+)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3V3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Merah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71737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DHT22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DATA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D5 (GPIO14)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Biru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828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DHT22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GND (−)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GND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Hitam</a:t>
                      </a:r>
                    </a:p>
                  </a:txBody>
                  <a:tcPr anchor="ctr">
                    <a:solidFill>
                      <a:srgbClr val="E8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17083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Potensiometer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VCC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3V3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Merah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7339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Potensiometer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WIPER (tengah)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A0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Biru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315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Potensiometer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GND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GND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Hitam</a:t>
                      </a:r>
                    </a:p>
                  </a:txBody>
                  <a:tcPr anchor="ctr">
                    <a:solidFill>
                      <a:srgbClr val="F2E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46988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LED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Anoda (kaki panjang, +)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D6 (GPIO12) via resistor 220Ω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Oranye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227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id-ID" sz="1400" b="1">
                          <a:solidFill>
                            <a:srgbClr val="2E4667"/>
                          </a:solidFill>
                        </a:rPr>
                        <a:t>LED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Katoda (kaki pendek, −)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GND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400">
                          <a:solidFill>
                            <a:srgbClr val="2E4667"/>
                          </a:solidFill>
                        </a:rPr>
                        <a:t>Hitam</a:t>
                      </a:r>
                    </a:p>
                  </a:txBody>
                  <a:tcPr anchor="ctr"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55307"/>
                  </a:ext>
                </a:extLst>
              </a:tr>
            </a:tbl>
          </a:graphicData>
        </a:graphic>
      </p:graphicFrame>
      <p:sp>
        <p:nvSpPr>
          <p:cNvPr id="7" name="Note">
            <a:extLst>
              <a:ext uri="{FF2B5EF4-FFF2-40B4-BE49-F238E27FC236}">
                <a16:creationId xmlns:a16="http://schemas.microsoft.com/office/drawing/2014/main" id="{110D5EF0-547C-4A30-8D8D-6D100D584436}"/>
              </a:ext>
            </a:extLst>
          </p:cNvPr>
          <p:cNvSpPr/>
          <p:nvPr/>
        </p:nvSpPr>
        <p:spPr>
          <a:xfrm>
            <a:off x="711200" y="5638800"/>
            <a:ext cx="10769600" cy="8128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id-ID" sz="1500" b="1">
                <a:solidFill>
                  <a:srgbClr val="FFFFFF"/>
                </a:solidFill>
              </a:rPr>
              <a:t>Periksa ulang: kesalahan tersering adalah VCC/GND tertukar atau kaki LED terbalik. Cek semua sambungan sebelum board dinyalakan pertama kali.</a:t>
            </a:r>
          </a:p>
        </p:txBody>
      </p:sp>
    </p:spTree>
    <p:extLst>
      <p:ext uri="{BB962C8B-B14F-4D97-AF65-F5344CB8AC3E}">
        <p14:creationId xmlns:p14="http://schemas.microsoft.com/office/powerpoint/2010/main" val="1508099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C2E9-0CDD-096E-BBD3-92F3D204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52238"/>
                </a:solidFill>
              </a:rPr>
              <a:t>Struktur Sketch: Library, Variabel, setup()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07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19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iot_arduino.ino — bagian yang dijalankan sekali saat board menyala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002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Library &amp; Deklarasi Variabel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032000"/>
            <a:ext cx="5257800" cy="2489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fontScale="92500"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#include &lt;ESP8266WiFi.h&gt;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#include &lt;ESP8266HTTPClient.h&gt;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#include &lt;WiFiManager.h&gt;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#include &lt;ArduinoJson.h&gt;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#include "DHT.h"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#define DHTPIN D5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#define DHTTYPE DHT22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DHT dht (DHTPIN, DHTTYPE);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const int lampu = D6;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int ADC_potensio = 0;</a:t>
            </a:r>
          </a:p>
        </p:txBody>
      </p:sp>
      <p:sp>
        <p:nvSpPr>
          <p:cNvPr id="62" name="H2"/>
          <p:cNvSpPr/>
          <p:nvPr/>
        </p:nvSpPr>
        <p:spPr>
          <a:xfrm>
            <a:off x="6223000" y="1600200"/>
            <a:ext cx="52578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void setup()</a:t>
            </a:r>
          </a:p>
        </p:txBody>
      </p:sp>
      <p:sp>
        <p:nvSpPr>
          <p:cNvPr id="63" name="K2"/>
          <p:cNvSpPr/>
          <p:nvPr/>
        </p:nvSpPr>
        <p:spPr>
          <a:xfrm>
            <a:off x="6223000" y="2032000"/>
            <a:ext cx="5257800" cy="2489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fontScale="92500"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void setup() {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Serial.begin(115200);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dht.begin();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pinMode(lampu, OUTPUT);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WiFi.mode(WIFI_STA);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WiFiManager wifiManager;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wifiManager.autoConnect(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  "IoT Trial Class SIKC");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Serial.println("Terhubung ke WiFi!");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Serial.println(WiFi.localIP());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}</a:t>
            </a:r>
          </a:p>
        </p:txBody>
      </p:sp>
      <p:sp>
        <p:nvSpPr>
          <p:cNvPr id="70" name="E1"/>
          <p:cNvSpPr/>
          <p:nvPr/>
        </p:nvSpPr>
        <p:spPr>
          <a:xfrm>
            <a:off x="711200" y="4648200"/>
            <a:ext cx="5257800" cy="16002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DHTPIN D5 → pin data sensor DHT22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lampu = D6 → pin PWM untuk LED</a:t>
            </a:r>
          </a:p>
          <a:p>
            <a:pPr marL="171450" indent="-171450" algn="l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ADC_potensio menyimpan nilai analog terakhir</a:t>
            </a:r>
          </a:p>
        </p:txBody>
      </p:sp>
      <p:sp>
        <p:nvSpPr>
          <p:cNvPr id="71" name="E2"/>
          <p:cNvSpPr/>
          <p:nvPr/>
        </p:nvSpPr>
        <p:spPr>
          <a:xfrm>
            <a:off x="6223000" y="4648200"/>
            <a:ext cx="5257800" cy="1600200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6CBA6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autoConnect() → sambung ke WiFi tersimpan; bila gagal, board membuat hotspot sendiri</a:t>
            </a:r>
          </a:p>
          <a:p>
            <a:pPr marL="171450" indent="-171450" algn="l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pinMode(lampu, OUTPUT) → D6 sebagai keluaran</a:t>
            </a:r>
          </a:p>
          <a:p>
            <a:pPr marL="171450" indent="-171450" algn="l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setup() hanya berjalan sekali saat board menyala</a:t>
            </a:r>
          </a:p>
        </p:txBody>
      </p:sp>
    </p:spTree>
    <p:extLst>
      <p:ext uri="{BB962C8B-B14F-4D97-AF65-F5344CB8AC3E}">
        <p14:creationId xmlns:p14="http://schemas.microsoft.com/office/powerpoint/2010/main" val="243436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04C4-3F96-ADE1-F2A3-B47A65BF8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800" b="1" dirty="0">
                <a:solidFill>
                  <a:srgbClr val="152238"/>
                </a:solidFill>
              </a:rPr>
              <a:t>loop() &amp; Fungsi kirimDataSensor()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07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19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Siklus utama: baca sensor → kirim ke server → cek status LED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00200"/>
            <a:ext cx="48260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void loop()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032000"/>
            <a:ext cx="4826000" cy="12700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fontScale="92500"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void loop() {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kirimDataSensor();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bacaStatusLed();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delay(2000);</a:t>
            </a:r>
          </a:p>
          <a:p>
            <a:pPr algn="l">
              <a:lnSpc>
                <a:spcPct val="105000"/>
              </a:lnSpc>
              <a:spcBef>
                <a:spcPts val="15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}</a:t>
            </a:r>
          </a:p>
        </p:txBody>
      </p:sp>
      <p:sp>
        <p:nvSpPr>
          <p:cNvPr id="70" name="E1"/>
          <p:cNvSpPr/>
          <p:nvPr/>
        </p:nvSpPr>
        <p:spPr>
          <a:xfrm>
            <a:off x="711200" y="3429000"/>
            <a:ext cx="4826000" cy="2844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loop() berjalan terus-menerus selama board menyala</a:t>
            </a:r>
          </a:p>
          <a:p>
            <a:pPr marL="171450" indent="-171450" algn="l">
              <a:lnSpc>
                <a:spcPct val="110000"/>
              </a:lnSpc>
              <a:spcBef>
                <a:spcPts val="45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delay(2000) → satu siklus tiap 2 detik agar server tidak dibanjiri request</a:t>
            </a:r>
          </a:p>
          <a:p>
            <a:pPr marL="171450" indent="-171450" algn="l">
              <a:lnSpc>
                <a:spcPct val="110000"/>
              </a:lnSpc>
              <a:spcBef>
                <a:spcPts val="45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isnan() → data gagal baca tidak dikirim ke server</a:t>
            </a:r>
          </a:p>
          <a:p>
            <a:pPr marL="171450" indent="-171450" algn="l">
              <a:lnSpc>
                <a:spcPct val="110000"/>
              </a:lnSpc>
              <a:spcBef>
                <a:spcPts val="45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serializeJson() → objek diubah menjadi teks JSON</a:t>
            </a:r>
          </a:p>
          <a:p>
            <a:pPr marL="171450" indent="-171450" algn="l">
              <a:lnSpc>
                <a:spcPct val="110000"/>
              </a:lnSpc>
              <a:spcBef>
                <a:spcPts val="45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http.POST(body) → diterima SensorReadingController@store</a:t>
            </a:r>
          </a:p>
        </p:txBody>
      </p:sp>
      <p:sp>
        <p:nvSpPr>
          <p:cNvPr id="62" name="H2"/>
          <p:cNvSpPr/>
          <p:nvPr/>
        </p:nvSpPr>
        <p:spPr>
          <a:xfrm>
            <a:off x="5791200" y="1600200"/>
            <a:ext cx="56896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void kirimDataSensor()</a:t>
            </a:r>
          </a:p>
        </p:txBody>
      </p:sp>
      <p:sp>
        <p:nvSpPr>
          <p:cNvPr id="63" name="K2"/>
          <p:cNvSpPr/>
          <p:nvPr/>
        </p:nvSpPr>
        <p:spPr>
          <a:xfrm>
            <a:off x="5791200" y="2032000"/>
            <a:ext cx="5689600" cy="42418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fontScale="92500" lnSpcReduction="2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void kirimDataSensor() {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float h = dht.readHumidity();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float t = dht.readTemperature();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if (isnan(h) || isnan(t)) return;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ADC_potensio = analogRead(A0);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if (WiFi.status() == WL_CONNECTED) {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StaticJsonDocument&lt;128&gt; doc;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doc["suhu"] = t;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doc["kelembapan"] = h;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doc["potensio"] = ADC_potensio;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String body;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serializeJson(doc, body);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HTTPClient http;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http.begin(wifiClient, sensorReadingsUrl);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http.addHeader("Content-Type",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    "application/json");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int code = http.POST(body);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http.end();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  <a:spcBef>
                <a:spcPts val="6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9278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6E59-D953-8910-283D-15FEB889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800" b="1" dirty="0">
                <a:solidFill>
                  <a:srgbClr val="152238"/>
                </a:solidFill>
              </a:rPr>
              <a:t>bacaStatusLed() &amp; Alamat IP Server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07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19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Arah balik: board membaca perintah LED dari dashboard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00200"/>
            <a:ext cx="56896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void bacaStatusLed()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032000"/>
            <a:ext cx="5689600" cy="3759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fontScale="92500"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void bacaStatusLed() {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HTTPClient http;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http.begin(wifiClient, ledUrl);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int httpCode = http.GET();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if (httpCode == HTTP_CODE_OK) {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String payload = http.getString();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StaticJsonDocument&lt;256&gt; doc;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deserializeJson(doc, payload);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const char* status =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  doc["data"]["status"];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if (status &amp;&amp; strcmp(status,"ON")==0)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analogWrite(lampu, ADC_potensio);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else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    analogWrite(lampu, 0);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http.end();</a:t>
            </a:r>
          </a:p>
          <a:p>
            <a:pPr algn="l">
              <a:lnSpc>
                <a:spcPct val="105000"/>
              </a:lnSpc>
              <a:spcBef>
                <a:spcPts val="9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}</a:t>
            </a:r>
          </a:p>
        </p:txBody>
      </p:sp>
      <p:sp>
        <p:nvSpPr>
          <p:cNvPr id="62" name="H2"/>
          <p:cNvSpPr/>
          <p:nvPr/>
        </p:nvSpPr>
        <p:spPr>
          <a:xfrm>
            <a:off x="6654800" y="1600200"/>
            <a:ext cx="4826000" cy="406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MENYESUAIKAN ALAMAT IP</a:t>
            </a:r>
          </a:p>
        </p:txBody>
      </p:sp>
      <p:sp>
        <p:nvSpPr>
          <p:cNvPr id="63" name="K2"/>
          <p:cNvSpPr/>
          <p:nvPr/>
        </p:nvSpPr>
        <p:spPr>
          <a:xfrm>
            <a:off x="6654800" y="2032000"/>
            <a:ext cx="4826000" cy="1219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7FD4FF"/>
                </a:solidFill>
                <a:latin typeface="Consolas"/>
              </a:rPr>
              <a:t>ipconfig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String apiBase =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  "http://192.168.1.20:8000/api";</a:t>
            </a:r>
          </a:p>
        </p:txBody>
      </p:sp>
      <p:sp>
        <p:nvSpPr>
          <p:cNvPr id="70" name="E2"/>
          <p:cNvSpPr/>
          <p:nvPr/>
        </p:nvSpPr>
        <p:spPr>
          <a:xfrm>
            <a:off x="6654800" y="3378200"/>
            <a:ext cx="4826000" cy="24130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Cari baris IPv4 Address pada adapter WiFi</a:t>
            </a:r>
          </a:p>
          <a:p>
            <a:pPr marL="171450" indent="-171450" algn="l">
              <a:lnSpc>
                <a:spcPct val="110000"/>
              </a:lnSpc>
              <a:spcBef>
                <a:spcPts val="45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Ganti 192.168.1.20 dengan IP komputer Anda</a:t>
            </a:r>
          </a:p>
          <a:p>
            <a:pPr marL="171450" indent="-171450" algn="l">
              <a:lnSpc>
                <a:spcPct val="110000"/>
              </a:lnSpc>
              <a:spcBef>
                <a:spcPts val="45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Komputer dan board wajib di WiFi yang sama</a:t>
            </a:r>
          </a:p>
          <a:p>
            <a:pPr marL="171450" indent="-171450" algn="l">
              <a:lnSpc>
                <a:spcPct val="110000"/>
              </a:lnSpc>
              <a:spcBef>
                <a:spcPts val="450"/>
              </a:spcBef>
              <a:buFont typeface="Arial"/>
              <a:buChar char="•"/>
            </a:pPr>
            <a:r>
              <a:rPr lang="id-ID" sz="1400" b="0" dirty="0">
                <a:solidFill>
                  <a:srgbClr val="2E4667"/>
                </a:solidFill>
              </a:rPr>
              <a:t>Server dijalankan dengan --host=0.0.0.0 agar bisa diakses board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5918200"/>
            <a:ext cx="10769600" cy="5588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Status ON → analogWrite(lampu, ADC_potensio): LED menyala dengan kecerahan mengikuti posisi potensiometer.</a:t>
            </a:r>
          </a:p>
        </p:txBody>
      </p:sp>
    </p:spTree>
    <p:extLst>
      <p:ext uri="{BB962C8B-B14F-4D97-AF65-F5344CB8AC3E}">
        <p14:creationId xmlns:p14="http://schemas.microsoft.com/office/powerpoint/2010/main" val="2472869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E12D-240A-C9BF-164C-79557B4A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Checklist &amp; Uji Coba End-to-End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58800"/>
            <a:ext cx="1447800" cy="482600"/>
          </a:xfrm>
          <a:prstGeom prst="roundRect">
            <a:avLst/>
          </a:prstGeom>
          <a:solidFill>
            <a:srgbClr val="B4520A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MODUL 08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244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Empat hal wajib dipastikan, lalu uji sistem dari ujung ke ujung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625600"/>
            <a:ext cx="5257800" cy="482600"/>
          </a:xfrm>
          <a:prstGeom prst="roundRect">
            <a:avLst/>
          </a:prstGeom>
          <a:solidFill>
            <a:srgbClr val="07714F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CHECKLIST SEBELUM MEMULAI</a:t>
            </a:r>
          </a:p>
        </p:txBody>
      </p:sp>
      <p:sp>
        <p:nvSpPr>
          <p:cNvPr id="61" name="B1"/>
          <p:cNvSpPr/>
          <p:nvPr/>
        </p:nvSpPr>
        <p:spPr>
          <a:xfrm>
            <a:off x="711200" y="2133600"/>
            <a:ext cx="5257800" cy="309880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9FE3C6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11543C"/>
                </a:solidFill>
              </a:rPr>
              <a:t>✓   Server Laravel berjalan dengan php artisan serve --host=0.0.0.0 --port=8000</a:t>
            </a:r>
          </a:p>
          <a:p>
            <a:pPr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id-ID" sz="1500" b="0" dirty="0">
                <a:solidFill>
                  <a:srgbClr val="11543C"/>
                </a:solidFill>
              </a:rPr>
              <a:t>✓   Komputer dan board ESP8266 berada di jaringan WiFi yang SAMA</a:t>
            </a:r>
          </a:p>
          <a:p>
            <a:pPr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id-ID" sz="1500" b="0" dirty="0">
                <a:solidFill>
                  <a:srgbClr val="11543C"/>
                </a:solidFill>
              </a:rPr>
              <a:t>✓   Nilai apiBase pada iot_arduino.ino sesuai IP komputer saat ini</a:t>
            </a:r>
          </a:p>
          <a:p>
            <a:pPr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id-ID" sz="1500" b="0" dirty="0">
                <a:solidFill>
                  <a:srgbClr val="11543C"/>
                </a:solidFill>
              </a:rPr>
              <a:t>✓   Board sudah berhasil terhubung WiFi lewat WiFiManager</a:t>
            </a:r>
          </a:p>
        </p:txBody>
      </p:sp>
      <p:sp>
        <p:nvSpPr>
          <p:cNvPr id="70" name="H2"/>
          <p:cNvSpPr/>
          <p:nvPr/>
        </p:nvSpPr>
        <p:spPr>
          <a:xfrm>
            <a:off x="6223000" y="1625600"/>
            <a:ext cx="5257800" cy="482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URUTAN UJI COBA</a:t>
            </a:r>
          </a:p>
        </p:txBody>
      </p:sp>
      <p:sp>
        <p:nvSpPr>
          <p:cNvPr id="71" name="B2"/>
          <p:cNvSpPr/>
          <p:nvPr/>
        </p:nvSpPr>
        <p:spPr>
          <a:xfrm>
            <a:off x="6223000" y="2133600"/>
            <a:ext cx="5257800" cy="3098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6E0F0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1.   Amati Serial Monitor: nilai suhu, kelembapan, dan potensio muncul tiap ±2 detik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2.   Buka dashboard di http://localhost:8000 atau http://&lt;IP-komputer&gt;:8000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3.   Pastikan tiga gauge ter-update otomatis setiap 5 detik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4.   Klik tombol Nyalakan LED — dalam ±2 detik LED fisik menyala</a:t>
            </a:r>
          </a:p>
        </p:txBody>
      </p:sp>
      <p:sp>
        <p:nvSpPr>
          <p:cNvPr id="80" name="Res"/>
          <p:cNvSpPr/>
          <p:nvPr/>
        </p:nvSpPr>
        <p:spPr>
          <a:xfrm>
            <a:off x="711200" y="5384800"/>
            <a:ext cx="10769600" cy="10160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FFFFFF"/>
                </a:solidFill>
              </a:rPr>
              <a:t>Sistem dinyatakan berhasil bila…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C9D6EC"/>
                </a:solidFill>
              </a:rPr>
              <a:t>Gauge di dashboard bergerak mengikuti sensor, dan LED fisik menyala dengan kecerahan sesuai posisi potensiometer.</a:t>
            </a:r>
          </a:p>
        </p:txBody>
      </p:sp>
    </p:spTree>
    <p:extLst>
      <p:ext uri="{BB962C8B-B14F-4D97-AF65-F5344CB8AC3E}">
        <p14:creationId xmlns:p14="http://schemas.microsoft.com/office/powerpoint/2010/main" val="51220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953A-4E81-AFBB-FB68-EBA605C8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>
            <a:normAutofit/>
          </a:bodyPr>
          <a:lstStyle/>
          <a:p>
            <a:r>
              <a:rPr lang="id-ID" sz="3000" b="1"/>
              <a:t>Troubleshooting</a:t>
            </a:r>
          </a:p>
        </p:txBody>
      </p:sp>
      <p:sp>
        <p:nvSpPr>
          <p:cNvPr id="3" name="Badge">
            <a:extLst>
              <a:ext uri="{FF2B5EF4-FFF2-40B4-BE49-F238E27FC236}">
                <a16:creationId xmlns:a16="http://schemas.microsoft.com/office/drawing/2014/main" id="{70D481D5-DE3E-4AAD-96C6-A963907F4C5A}"/>
              </a:ext>
            </a:extLst>
          </p:cNvPr>
          <p:cNvSpPr/>
          <p:nvPr/>
        </p:nvSpPr>
        <p:spPr>
          <a:xfrm>
            <a:off x="10033000" y="508000"/>
            <a:ext cx="1447800" cy="482600"/>
          </a:xfrm>
          <a:prstGeom prst="roundRect">
            <a:avLst/>
          </a:prstGeom>
          <a:solidFill>
            <a:srgbClr val="B4520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d-ID" sz="1400" b="1">
                <a:solidFill>
                  <a:srgbClr val="FFFFFF"/>
                </a:solidFill>
              </a:rPr>
              <a:t>MODUL 08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2EAC5E-17AB-4F11-8C73-9BF88C2AD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657534"/>
              </p:ext>
            </p:extLst>
          </p:nvPr>
        </p:nvGraphicFramePr>
        <p:xfrm>
          <a:off x="711200" y="1270000"/>
          <a:ext cx="10769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47005125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882374639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140746239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FFFFFF"/>
                          </a:solidFill>
                        </a:rPr>
                        <a:t>Gejala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FFFFFF"/>
                          </a:solidFill>
                        </a:rPr>
                        <a:t>Kemungkinan Penyebab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FFFFFF"/>
                          </a:solidFill>
                        </a:rPr>
                        <a:t>Solusi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48663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Error "Unknown database"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Database laravel_iot belum dibuat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0A5C42"/>
                          </a:solidFill>
                        </a:rPr>
                        <a:t>Buat ulang via phpMyAdmin (Modul 1)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94934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Apache/MySQL gagal 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Port 80 / 3306 bentrok dengan aplikasi lain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0A5C42"/>
                          </a:solidFill>
                        </a:rPr>
                        <a:t>Ubah port lewat tombol Config di XAMPP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582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Dashboard tak terbuka dari HP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Server tanpa --host=0.0.0.0 atau diblokir Firewall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0A5C42"/>
                          </a:solidFill>
                        </a:rPr>
                        <a:t>Jalankan ulang dengan --host=0.0.0.0, izinkan akses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44741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ESP8266 gagal 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Port COM salah, kabel USB hanya untuk daya, driver belum 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0A5C42"/>
                          </a:solidFill>
                        </a:rPr>
                        <a:t>Cek Device Manager, ganti kabel, pasang driver CH340/CP2102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15037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ESP8266 tak tersambung WiFi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Password salah atau jaringan 5 GHz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0A5C42"/>
                          </a:solidFill>
                        </a:rPr>
                        <a:t>Ulangi WiFiManager pada jaringan 2.4 GHz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96977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"Gagal Mendapatkan nilai suhu"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Kabel DHT22 longgar atau salah pasang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0A5C42"/>
                          </a:solidFill>
                        </a:rPr>
                        <a:t>Periksa kembali wiring sesuai Modul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86323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id-ID" sz="1500" b="1">
                          <a:solidFill>
                            <a:srgbClr val="2E4667"/>
                          </a:solidFill>
                        </a:rPr>
                        <a:t>"Gagal kirim data sensor"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2E4667"/>
                          </a:solidFill>
                        </a:rPr>
                        <a:t>IP apiBase berubah atau server tidak berjalan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sz="1500">
                          <a:solidFill>
                            <a:srgbClr val="0A5C42"/>
                          </a:solidFill>
                        </a:rPr>
                        <a:t>Cek ipconfig, sesuaikan apiBase, upload ulang</a:t>
                      </a:r>
                    </a:p>
                  </a:txBody>
                  <a:tcPr anchor="ctr">
                    <a:solidFill>
                      <a:srgbClr val="FF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96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981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59A5-4B2D-2F40-9BF3-7ECD8AF09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52238"/>
                </a:solidFill>
              </a:rPr>
              <a:t>Daftar Endpoint API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08000"/>
            <a:ext cx="1447800" cy="4826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45720" rIns="160020" bIns="4572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LAMPIRAN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1684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45720" rIns="160020" bIns="4572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Enam pintu masuk sistem — dipakai ESP8266 dan dashboard</a:t>
            </a:r>
          </a:p>
        </p:txBody>
      </p:sp>
      <p:sp>
        <p:nvSpPr>
          <p:cNvPr id="60" name="Row0"/>
          <p:cNvSpPr/>
          <p:nvPr/>
        </p:nvSpPr>
        <p:spPr>
          <a:xfrm>
            <a:off x="711200" y="1574800"/>
            <a:ext cx="10769600" cy="68580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DCE4F0"/>
            </a:solidFill>
          </a:ln>
        </p:spPr>
        <p:txBody>
          <a:bodyPr wrap="square" lIns="160020" tIns="45720" rIns="160020" bIns="45720" anchor="t">
            <a:normAutofit/>
          </a:bodyPr>
          <a:lstStyle/>
          <a:p>
            <a:endParaRPr lang="id-ID"/>
          </a:p>
        </p:txBody>
      </p:sp>
      <p:sp>
        <p:nvSpPr>
          <p:cNvPr id="61" name="M0"/>
          <p:cNvSpPr/>
          <p:nvPr/>
        </p:nvSpPr>
        <p:spPr>
          <a:xfrm>
            <a:off x="914400" y="1739900"/>
            <a:ext cx="990600" cy="355600"/>
          </a:xfrm>
          <a:prstGeom prst="roundRect">
            <a:avLst/>
          </a:prstGeom>
          <a:solidFill>
            <a:srgbClr val="07714F"/>
          </a:solidFill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2" name="T0"/>
          <p:cNvSpPr/>
          <p:nvPr/>
        </p:nvSpPr>
        <p:spPr>
          <a:xfrm>
            <a:off x="2057400" y="16256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7714F"/>
                </a:solidFill>
                <a:latin typeface="Consolas"/>
              </a:rPr>
              <a:t>/api/sensor-readings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Menyimpan data sensor baru dari ESP8266</a:t>
            </a:r>
          </a:p>
        </p:txBody>
      </p:sp>
      <p:sp>
        <p:nvSpPr>
          <p:cNvPr id="63" name="Row1"/>
          <p:cNvSpPr/>
          <p:nvPr/>
        </p:nvSpPr>
        <p:spPr>
          <a:xfrm>
            <a:off x="711200" y="2362200"/>
            <a:ext cx="10769600" cy="685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4F0"/>
            </a:solidFill>
          </a:ln>
        </p:spPr>
        <p:txBody>
          <a:bodyPr wrap="square" lIns="160020" tIns="45720" rIns="160020" bIns="45720" anchor="t">
            <a:normAutofit/>
          </a:bodyPr>
          <a:lstStyle/>
          <a:p>
            <a:endParaRPr lang="id-ID"/>
          </a:p>
        </p:txBody>
      </p:sp>
      <p:sp>
        <p:nvSpPr>
          <p:cNvPr id="64" name="M1"/>
          <p:cNvSpPr/>
          <p:nvPr/>
        </p:nvSpPr>
        <p:spPr>
          <a:xfrm>
            <a:off x="914400" y="2527300"/>
            <a:ext cx="990600" cy="355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5" name="T1"/>
          <p:cNvSpPr/>
          <p:nvPr/>
        </p:nvSpPr>
        <p:spPr>
          <a:xfrm>
            <a:off x="2057400" y="24130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1D4ED8"/>
                </a:solidFill>
                <a:latin typeface="Consolas"/>
              </a:rPr>
              <a:t>/api/sensor-readings/latest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Data sensor paling terbaru untuk dashboard</a:t>
            </a:r>
          </a:p>
        </p:txBody>
      </p:sp>
      <p:sp>
        <p:nvSpPr>
          <p:cNvPr id="66" name="Row2"/>
          <p:cNvSpPr/>
          <p:nvPr/>
        </p:nvSpPr>
        <p:spPr>
          <a:xfrm>
            <a:off x="711200" y="3149600"/>
            <a:ext cx="10769600" cy="685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4F0"/>
            </a:solidFill>
          </a:ln>
        </p:spPr>
        <p:txBody>
          <a:bodyPr wrap="square" lIns="160020" tIns="45720" rIns="160020" bIns="45720" anchor="t">
            <a:normAutofit/>
          </a:bodyPr>
          <a:lstStyle/>
          <a:p>
            <a:endParaRPr lang="id-ID"/>
          </a:p>
        </p:txBody>
      </p:sp>
      <p:sp>
        <p:nvSpPr>
          <p:cNvPr id="67" name="M2"/>
          <p:cNvSpPr/>
          <p:nvPr/>
        </p:nvSpPr>
        <p:spPr>
          <a:xfrm>
            <a:off x="914400" y="3314700"/>
            <a:ext cx="990600" cy="355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8" name="T2"/>
          <p:cNvSpPr/>
          <p:nvPr/>
        </p:nvSpPr>
        <p:spPr>
          <a:xfrm>
            <a:off x="2057400" y="32004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1D4ED8"/>
                </a:solidFill>
                <a:latin typeface="Consolas"/>
              </a:rPr>
              <a:t>/api/sensor-readings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Riwayat data sensor dengan pagination</a:t>
            </a:r>
          </a:p>
        </p:txBody>
      </p:sp>
      <p:sp>
        <p:nvSpPr>
          <p:cNvPr id="69" name="Row3"/>
          <p:cNvSpPr/>
          <p:nvPr/>
        </p:nvSpPr>
        <p:spPr>
          <a:xfrm>
            <a:off x="711200" y="3937000"/>
            <a:ext cx="10769600" cy="685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4F0"/>
            </a:solidFill>
          </a:ln>
        </p:spPr>
        <p:txBody>
          <a:bodyPr wrap="square" lIns="160020" tIns="45720" rIns="160020" bIns="45720" anchor="t">
            <a:normAutofit/>
          </a:bodyPr>
          <a:lstStyle/>
          <a:p>
            <a:endParaRPr lang="id-ID"/>
          </a:p>
        </p:txBody>
      </p:sp>
      <p:sp>
        <p:nvSpPr>
          <p:cNvPr id="70" name="M3"/>
          <p:cNvSpPr/>
          <p:nvPr/>
        </p:nvSpPr>
        <p:spPr>
          <a:xfrm>
            <a:off x="914400" y="4102100"/>
            <a:ext cx="990600" cy="355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1" name="T3"/>
          <p:cNvSpPr/>
          <p:nvPr/>
        </p:nvSpPr>
        <p:spPr>
          <a:xfrm>
            <a:off x="2057400" y="39878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1D4ED8"/>
                </a:solidFill>
                <a:latin typeface="Consolas"/>
              </a:rPr>
              <a:t>/api/led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Status LED saat ini</a:t>
            </a:r>
          </a:p>
        </p:txBody>
      </p:sp>
      <p:sp>
        <p:nvSpPr>
          <p:cNvPr id="72" name="Row4"/>
          <p:cNvSpPr/>
          <p:nvPr/>
        </p:nvSpPr>
        <p:spPr>
          <a:xfrm>
            <a:off x="711200" y="4724400"/>
            <a:ext cx="10769600" cy="685800"/>
          </a:xfrm>
          <a:prstGeom prst="roundRect">
            <a:avLst/>
          </a:prstGeom>
          <a:solidFill>
            <a:srgbClr val="F2EBFE"/>
          </a:solidFill>
          <a:ln w="12700">
            <a:solidFill>
              <a:srgbClr val="DCE4F0"/>
            </a:solidFill>
          </a:ln>
        </p:spPr>
        <p:txBody>
          <a:bodyPr wrap="square" lIns="160020" tIns="45720" rIns="160020" bIns="45720" anchor="t">
            <a:normAutofit/>
          </a:bodyPr>
          <a:lstStyle/>
          <a:p>
            <a:endParaRPr lang="id-ID"/>
          </a:p>
        </p:txBody>
      </p:sp>
      <p:sp>
        <p:nvSpPr>
          <p:cNvPr id="73" name="M4"/>
          <p:cNvSpPr/>
          <p:nvPr/>
        </p:nvSpPr>
        <p:spPr>
          <a:xfrm>
            <a:off x="914400" y="4889500"/>
            <a:ext cx="990600" cy="355600"/>
          </a:xfrm>
          <a:prstGeom prst="roundRect">
            <a:avLst/>
          </a:prstGeom>
          <a:solidFill>
            <a:srgbClr val="6B21D8"/>
          </a:solidFill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74" name="T4"/>
          <p:cNvSpPr/>
          <p:nvPr/>
        </p:nvSpPr>
        <p:spPr>
          <a:xfrm>
            <a:off x="2057400" y="4775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6B21D8"/>
                </a:solidFill>
                <a:latin typeface="Consolas"/>
              </a:rPr>
              <a:t>/api/led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Mengubah status LED ke nilai tertentu</a:t>
            </a:r>
          </a:p>
        </p:txBody>
      </p:sp>
      <p:sp>
        <p:nvSpPr>
          <p:cNvPr id="75" name="Row5"/>
          <p:cNvSpPr/>
          <p:nvPr/>
        </p:nvSpPr>
        <p:spPr>
          <a:xfrm>
            <a:off x="711200" y="5511800"/>
            <a:ext cx="10769600" cy="68580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DCE4F0"/>
            </a:solidFill>
          </a:ln>
        </p:spPr>
        <p:txBody>
          <a:bodyPr wrap="square" lIns="160020" tIns="45720" rIns="160020" bIns="45720" anchor="t">
            <a:normAutofit/>
          </a:bodyPr>
          <a:lstStyle/>
          <a:p>
            <a:endParaRPr lang="id-ID"/>
          </a:p>
        </p:txBody>
      </p:sp>
      <p:sp>
        <p:nvSpPr>
          <p:cNvPr id="76" name="M5"/>
          <p:cNvSpPr/>
          <p:nvPr/>
        </p:nvSpPr>
        <p:spPr>
          <a:xfrm>
            <a:off x="914400" y="5676900"/>
            <a:ext cx="990600" cy="355600"/>
          </a:xfrm>
          <a:prstGeom prst="roundRect">
            <a:avLst/>
          </a:prstGeom>
          <a:solidFill>
            <a:srgbClr val="07714F"/>
          </a:solidFill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7" name="T5"/>
          <p:cNvSpPr/>
          <p:nvPr/>
        </p:nvSpPr>
        <p:spPr>
          <a:xfrm>
            <a:off x="2057400" y="55626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7714F"/>
                </a:solidFill>
                <a:latin typeface="Consolas"/>
              </a:rPr>
              <a:t>/api/led/toggle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id-ID" sz="1400" b="0" dirty="0">
                <a:solidFill>
                  <a:srgbClr val="5C7099"/>
                </a:solidFill>
              </a:rPr>
              <a:t>Membalik status LED — dipakai tombol dashboard</a:t>
            </a:r>
          </a:p>
        </p:txBody>
      </p:sp>
    </p:spTree>
    <p:extLst>
      <p:ext uri="{BB962C8B-B14F-4D97-AF65-F5344CB8AC3E}">
        <p14:creationId xmlns:p14="http://schemas.microsoft.com/office/powerpoint/2010/main" val="4182662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AAE4-AF69-3E0B-080B-280A5FBB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31800"/>
            <a:ext cx="8890000" cy="73660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800" b="1" dirty="0">
                <a:solidFill>
                  <a:srgbClr val="152238"/>
                </a:solidFill>
              </a:rPr>
              <a:t>Perintah Artisan &amp; Struktur Folder</a:t>
            </a:r>
          </a:p>
        </p:txBody>
      </p:sp>
      <p:sp>
        <p:nvSpPr>
          <p:cNvPr id="40" name="Badge"/>
          <p:cNvSpPr/>
          <p:nvPr/>
        </p:nvSpPr>
        <p:spPr>
          <a:xfrm>
            <a:off x="10033000" y="508000"/>
            <a:ext cx="1447800" cy="4826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</a:rPr>
              <a:t>LAMPIRAN</a:t>
            </a:r>
          </a:p>
        </p:txBody>
      </p:sp>
      <p:sp>
        <p:nvSpPr>
          <p:cNvPr id="50" name="Kicker"/>
          <p:cNvSpPr/>
          <p:nvPr/>
        </p:nvSpPr>
        <p:spPr>
          <a:xfrm>
            <a:off x="711200" y="11684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 fontScale="77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500" b="0" dirty="0">
                <a:solidFill>
                  <a:srgbClr val="5C7099"/>
                </a:solidFill>
              </a:rPr>
              <a:t>Semua perintah dan letak berkas dalam satu tampilan</a:t>
            </a:r>
          </a:p>
        </p:txBody>
      </p:sp>
      <p:sp>
        <p:nvSpPr>
          <p:cNvPr id="60" name="H1"/>
          <p:cNvSpPr/>
          <p:nvPr/>
        </p:nvSpPr>
        <p:spPr>
          <a:xfrm>
            <a:off x="711200" y="1574800"/>
            <a:ext cx="59690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7FD4FF"/>
                </a:solidFill>
                <a:latin typeface="Consolas"/>
              </a:rPr>
              <a:t>Perintah Artisan yang Dipakai</a:t>
            </a:r>
          </a:p>
        </p:txBody>
      </p:sp>
      <p:sp>
        <p:nvSpPr>
          <p:cNvPr id="61" name="K1"/>
          <p:cNvSpPr/>
          <p:nvPr/>
        </p:nvSpPr>
        <p:spPr>
          <a:xfrm>
            <a:off x="711200" y="2006600"/>
            <a:ext cx="5969000" cy="2870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make:model Sensor -m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make:model Kontrol -m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make:request StoreSensorReadingRequest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make:request UpdateLedStatusRequest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make:resource SensorReadingResource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make:resource LedStatusResource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make:controller Api/SensorReadingController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make:controller Api/LedStatusController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make:controller DashboardController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migrate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id-ID" sz="1300" b="0" dirty="0">
                <a:solidFill>
                  <a:srgbClr val="D9E7FF"/>
                </a:solidFill>
                <a:latin typeface="Consolas"/>
              </a:rPr>
              <a:t>php artisan serve --host=0.0.0.0 --port=8000</a:t>
            </a:r>
          </a:p>
        </p:txBody>
      </p:sp>
      <p:sp>
        <p:nvSpPr>
          <p:cNvPr id="62" name="H2"/>
          <p:cNvSpPr/>
          <p:nvPr/>
        </p:nvSpPr>
        <p:spPr>
          <a:xfrm>
            <a:off x="6934200" y="1574800"/>
            <a:ext cx="4546600" cy="406400"/>
          </a:xfrm>
          <a:prstGeom prst="roundRect">
            <a:avLst/>
          </a:prstGeom>
          <a:solidFill>
            <a:srgbClr val="0B1526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C98A"/>
                </a:solidFill>
                <a:latin typeface="Consolas"/>
              </a:rPr>
              <a:t>Struktur Folder Proyek</a:t>
            </a:r>
          </a:p>
        </p:txBody>
      </p:sp>
      <p:sp>
        <p:nvSpPr>
          <p:cNvPr id="63" name="K2"/>
          <p:cNvSpPr/>
          <p:nvPr/>
        </p:nvSpPr>
        <p:spPr>
          <a:xfrm>
            <a:off x="6934200" y="2006600"/>
            <a:ext cx="4546600" cy="2870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t">
            <a:normAutofit lnSpcReduction="1000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Trial Class/Materi/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├── laravel-iot/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├── app/Http/Controllers/Api/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├── app/Http/Requests/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├── app/Http/Resources/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├── app/Models/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├── database/migrations/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├── resources/views/Dashboard.blade.php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├── routes/api.php, web.php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│   └── .env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└── iot_arduino/</a:t>
            </a:r>
          </a:p>
          <a:p>
            <a:pPr algn="l">
              <a:lnSpc>
                <a:spcPct val="105000"/>
              </a:lnSpc>
              <a:spcBef>
                <a:spcPts val="80"/>
              </a:spcBef>
              <a:buNone/>
            </a:pPr>
            <a:r>
              <a:rPr lang="id-ID" sz="1300" b="0" dirty="0">
                <a:solidFill>
                  <a:srgbClr val="FFE6C7"/>
                </a:solidFill>
                <a:latin typeface="Consolas"/>
              </a:rPr>
              <a:t>        └── iot_arduino.ino</a:t>
            </a:r>
          </a:p>
        </p:txBody>
      </p:sp>
      <p:sp>
        <p:nvSpPr>
          <p:cNvPr id="80" name="Note"/>
          <p:cNvSpPr/>
          <p:nvPr/>
        </p:nvSpPr>
        <p:spPr>
          <a:xfrm>
            <a:off x="711200" y="5054600"/>
            <a:ext cx="10769600" cy="10668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C9D8EF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1D4ED8"/>
                </a:solidFill>
              </a:rPr>
              <a:t>Alur singkat membangun backend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Model &amp; Migration  →  Form Request  →  API Resource  →  Controller  →  Routing  →  Dashboard  →  uji dengan Arduino.</a:t>
            </a:r>
          </a:p>
        </p:txBody>
      </p:sp>
    </p:spTree>
    <p:extLst>
      <p:ext uri="{BB962C8B-B14F-4D97-AF65-F5344CB8AC3E}">
        <p14:creationId xmlns:p14="http://schemas.microsoft.com/office/powerpoint/2010/main" val="486557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C2B3-C21F-046C-B55C-224C2F6B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4400" b="1" dirty="0">
                <a:solidFill>
                  <a:srgbClr val="152238"/>
                </a:solidFill>
              </a:rPr>
              <a:t>Siap Praktik!</a:t>
            </a:r>
          </a:p>
        </p:txBody>
      </p:sp>
      <p:sp>
        <p:nvSpPr>
          <p:cNvPr id="50" name="Sub"/>
          <p:cNvSpPr/>
          <p:nvPr/>
        </p:nvSpPr>
        <p:spPr>
          <a:xfrm>
            <a:off x="1651000" y="2311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160020" tIns="76200" rIns="160020" bIns="7620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E4667"/>
                </a:solidFill>
              </a:rPr>
              <a:t>Link Program </a:t>
            </a:r>
            <a:r>
              <a:rPr lang="en-US" dirty="0" err="1">
                <a:solidFill>
                  <a:srgbClr val="2E4667"/>
                </a:solidFill>
              </a:rPr>
              <a:t>keseluruhan</a:t>
            </a:r>
            <a:r>
              <a:rPr lang="en-US" dirty="0">
                <a:solidFill>
                  <a:srgbClr val="2E4667"/>
                </a:solidFill>
              </a:rPr>
              <a:t>: </a:t>
            </a:r>
            <a:r>
              <a:rPr lang="id-ID" dirty="0">
                <a:solidFill>
                  <a:srgbClr val="2E4667"/>
                </a:solidFill>
                <a:hlinkClick r:id="rId2"/>
              </a:rPr>
              <a:t>https://github.com/asadrosyadi/trialclass_iot</a:t>
            </a:r>
            <a:r>
              <a:rPr lang="en-US" dirty="0">
                <a:solidFill>
                  <a:srgbClr val="2E4667"/>
                </a:solidFill>
              </a:rPr>
              <a:t> </a:t>
            </a:r>
            <a:endParaRPr lang="id-ID" sz="1800" b="0" dirty="0">
              <a:solidFill>
                <a:srgbClr val="2E4667"/>
              </a:solidFill>
            </a:endParaRPr>
          </a:p>
        </p:txBody>
      </p:sp>
      <p:sp>
        <p:nvSpPr>
          <p:cNvPr id="51" name="Rule"/>
          <p:cNvSpPr/>
          <p:nvPr/>
        </p:nvSpPr>
        <p:spPr>
          <a:xfrm>
            <a:off x="5588000" y="2946400"/>
            <a:ext cx="101600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wrap="square" lIns="160020" tIns="76200" rIns="160020" bIns="76200" anchor="t">
            <a:normAutofit fontScale="25000" lnSpcReduction="20000"/>
          </a:bodyPr>
          <a:lstStyle/>
          <a:p>
            <a:endParaRPr lang="id-ID"/>
          </a:p>
        </p:txBody>
      </p:sp>
      <p:sp>
        <p:nvSpPr>
          <p:cNvPr id="60" name="Card0"/>
          <p:cNvSpPr/>
          <p:nvPr/>
        </p:nvSpPr>
        <p:spPr>
          <a:xfrm>
            <a:off x="711200" y="3378200"/>
            <a:ext cx="3454400" cy="1828800"/>
          </a:xfrm>
          <a:prstGeom prst="roundRect">
            <a:avLst/>
          </a:prstGeom>
          <a:solidFill>
            <a:srgbClr val="E9EFFD"/>
          </a:solidFill>
          <a:ln w="12700">
            <a:solidFill>
              <a:srgbClr val="1D4ED8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1D4ED8"/>
                </a:solidFill>
              </a:rPr>
              <a:t>BACKEND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Laravel 12: REST API, validasi input, dan dashboard Blade real-time</a:t>
            </a:r>
          </a:p>
        </p:txBody>
      </p:sp>
      <p:sp>
        <p:nvSpPr>
          <p:cNvPr id="61" name="Card1"/>
          <p:cNvSpPr/>
          <p:nvPr/>
        </p:nvSpPr>
        <p:spPr>
          <a:xfrm>
            <a:off x="4368800" y="3378200"/>
            <a:ext cx="3454400" cy="182880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B4520A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B4520A"/>
                </a:solidFill>
              </a:rPr>
              <a:t>HARDWARE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NodeMCU ESP8266 dengan DHT22, potensiometer, dan LED</a:t>
            </a:r>
          </a:p>
        </p:txBody>
      </p:sp>
      <p:sp>
        <p:nvSpPr>
          <p:cNvPr id="62" name="Card2"/>
          <p:cNvSpPr/>
          <p:nvPr/>
        </p:nvSpPr>
        <p:spPr>
          <a:xfrm>
            <a:off x="8026400" y="3378200"/>
            <a:ext cx="3454400" cy="1828800"/>
          </a:xfrm>
          <a:prstGeom prst="roundRect">
            <a:avLst/>
          </a:prstGeom>
          <a:solidFill>
            <a:srgbClr val="F2EBFE"/>
          </a:solidFill>
          <a:ln w="12700">
            <a:solidFill>
              <a:srgbClr val="6B21D8"/>
            </a:solidFill>
          </a:ln>
        </p:spPr>
        <p:txBody>
          <a:bodyPr wrap="square" lIns="160020" tIns="76200" rIns="160020" bIns="762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6B21D8"/>
                </a:solidFill>
              </a:rPr>
              <a:t>HASIL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buNone/>
            </a:pPr>
            <a:r>
              <a:rPr lang="id-ID" sz="1500" b="0" dirty="0">
                <a:solidFill>
                  <a:srgbClr val="2E4667"/>
                </a:solidFill>
              </a:rPr>
              <a:t>Monitoring suhu &amp; kelembapan plus kontrol LED langsung dari web</a:t>
            </a:r>
          </a:p>
        </p:txBody>
      </p:sp>
      <p:sp>
        <p:nvSpPr>
          <p:cNvPr id="80" name="Foot"/>
          <p:cNvSpPr/>
          <p:nvPr/>
        </p:nvSpPr>
        <p:spPr>
          <a:xfrm>
            <a:off x="711200" y="5435600"/>
            <a:ext cx="10769600" cy="7620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txBody>
          <a:bodyPr wrap="square" lIns="160020" tIns="76200" rIns="160020" bIns="762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FFFFFF"/>
                </a:solidFill>
              </a:rPr>
              <a:t>Menemui kendala? Kembali ke slide Troubleshooting sebelum bertanya.</a:t>
            </a:r>
          </a:p>
        </p:txBody>
      </p:sp>
    </p:spTree>
    <p:extLst>
      <p:ext uri="{BB962C8B-B14F-4D97-AF65-F5344CB8AC3E}">
        <p14:creationId xmlns:p14="http://schemas.microsoft.com/office/powerpoint/2010/main" val="23037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6161302824]">
  <a:themeElements>
    <a:clrScheme name="Office">
      <a:dk1>
        <a:srgbClr val="152238"/>
      </a:dk1>
      <a:lt1>
        <a:srgbClr val="FFFFFF"/>
      </a:lt1>
      <a:dk2>
        <a:srgbClr val="2E4667"/>
      </a:dk2>
      <a:lt2>
        <a:srgbClr val="EEF3FA"/>
      </a:lt2>
      <a:accent1>
        <a:srgbClr val="1D4ED8"/>
      </a:accent1>
      <a:accent2>
        <a:srgbClr val="F97316"/>
      </a:accent2>
      <a:accent3>
        <a:srgbClr val="0EA5E9"/>
      </a:accent3>
      <a:accent4>
        <a:srgbClr val="10B981"/>
      </a:accent4>
      <a:accent5>
        <a:srgbClr val="7C3AED"/>
      </a:accent5>
      <a:accent6>
        <a:srgbClr val="E11D48"/>
      </a:accent6>
      <a:hlink>
        <a:srgbClr val="0563C1"/>
      </a:hlink>
      <a:folHlink>
        <a:srgbClr val="954F72"/>
      </a:folHlink>
    </a:clrScheme>
    <a:fontScheme name="Office">
      <a:majorFont>
        <a:latin typeface="Trebuchet M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34869D-41FB-4D03-A6B7-0D50DC8E5AC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2e870bf-2de9-45e6-a772-ac37a1b360d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3369</Words>
  <Application>Microsoft Office PowerPoint</Application>
  <PresentationFormat>Widescreen</PresentationFormat>
  <Paragraphs>539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Consolas</vt:lpstr>
      <vt:lpstr>Segoe UI</vt:lpstr>
      <vt:lpstr>Trebuchet MS</vt:lpstr>
      <vt:lpstr>Office Theme [1786161302824]</vt:lpstr>
      <vt:lpstr>Membangun Sistem IoT dengan Laravel &amp; ESP8266</vt:lpstr>
      <vt:lpstr>Arsitektur Sistem</vt:lpstr>
      <vt:lpstr>Peta Perjalanan: 8 Modul</vt:lpstr>
      <vt:lpstr>Alat &amp; Bahan</vt:lpstr>
      <vt:lpstr>Instalasi Laravel &amp; Setup Proyek</vt:lpstr>
      <vt:lpstr>Konfigurasi Database &amp; Perintah Kunci</vt:lpstr>
      <vt:lpstr>Model &amp; Migration Database</vt:lpstr>
      <vt:lpstr>Skema Tabel: sensor &amp; kontrol</vt:lpstr>
      <vt:lpstr>Form Request: Validasi Input</vt:lpstr>
      <vt:lpstr>API Resource: Format Response JSON</vt:lpstr>
      <vt:lpstr>Controller API</vt:lpstr>
      <vt:lpstr>Routing: api.php &amp; web.php</vt:lpstr>
      <vt:lpstr>Dashboard Blade &amp; Polling Data</vt:lpstr>
      <vt:lpstr>Instalasi Arduino IDE &amp; Board ESP8266</vt:lpstr>
      <vt:lpstr>Library Wajib di Arduino IDE</vt:lpstr>
      <vt:lpstr>Wiring: Merangkai Hardware</vt:lpstr>
      <vt:lpstr>Struktur Sketch: Library, Variabel, setup()</vt:lpstr>
      <vt:lpstr>loop() &amp; Fungsi kirimDataSensor()</vt:lpstr>
      <vt:lpstr>bacaStatusLed() &amp; Alamat IP Server</vt:lpstr>
      <vt:lpstr>Checklist &amp; Uji Coba End-to-End</vt:lpstr>
      <vt:lpstr>Troubleshooting</vt:lpstr>
      <vt:lpstr>Daftar Endpoint API</vt:lpstr>
      <vt:lpstr>Perintah Artisan &amp; Struktur Folder</vt:lpstr>
      <vt:lpstr>Siap Praktik!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AS'AD ROSYADI</dc:creator>
  <cp:lastModifiedBy>MOHAMMAD AS'AD ROSYADI</cp:lastModifiedBy>
  <cp:revision>5</cp:revision>
  <dcterms:created xsi:type="dcterms:W3CDTF">2026-08-08T03:33:32Z</dcterms:created>
  <dcterms:modified xsi:type="dcterms:W3CDTF">2026-08-08T04:07:01Z</dcterms:modified>
</cp:coreProperties>
</file>